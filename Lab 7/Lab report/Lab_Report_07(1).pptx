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7553325" cy="106870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3959" cy="106870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0" y="6051550"/>
            <a:ext cx="1847850" cy="7239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400" y="8413750"/>
            <a:ext cx="3448050" cy="7239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400" y="863600"/>
            <a:ext cx="6223000" cy="2635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400" y="3530600"/>
            <a:ext cx="3238500" cy="21018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44900" y="3530600"/>
            <a:ext cx="3238500" cy="210185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767830" y="704850"/>
          <a:ext cx="280670" cy="28066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0670"/>
              </a:tblGrid>
              <a:tr h="280669">
                <a:tc>
                  <a:txBody>
                    <a:bodyPr/>
                    <a:lstStyle/>
                    <a:p>
                      <a:pPr>
                        <a:lnSpc>
                          <a:spcPts val="2189"/>
                        </a:lnSpc>
                      </a:pPr>
                    </a:p>
                  </a:txBody>
                  <a:tcPr marL="0" marR="0" marT="0" marB="0" vert="horz">
                    <a:lnL w="2222" cap="flat" cmpd="sng" algn="ctr">
                      <a:solidFill>
                        <a:srgbClr val="888888">
                          <a:alpha val="10000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2539" cap="flat" cmpd="sng" algn="ctr">
                      <a:solidFill>
                        <a:srgbClr val="888888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270" y="1270"/>
          <a:ext cx="6742430" cy="106845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42430"/>
              </a:tblGrid>
              <a:tr h="10684510">
                <a:tc>
                  <a:txBody>
                    <a:bodyPr/>
                    <a:lstStyle/>
                    <a:p/>
                    <a:p>
                      <a:pPr algn="ctr">
                        <a:lnSpc>
                          <a:spcPts val="940"/>
                        </a:lnSpc>
                        <a:spcBef>
                          <a:spcPts val="3340"/>
                        </a:spcBef>
                      </a:pPr>
                    </a:p>
                    <a:p>
                      <a:pPr marR="1427480" algn="r">
                        <a:lnSpc>
                          <a:spcPts val="2920"/>
                        </a:lnSpc>
                        <a:spcBef>
                          <a:spcPts val="3040"/>
                        </a:spcBef>
                      </a:pPr>
                    </a:p>
                    <a:p>
                      <a:pPr algn="ctr">
                        <a:lnSpc>
                          <a:spcPts val="1090"/>
                        </a:lnSpc>
                        <a:spcBef>
                          <a:spcPts val="3690"/>
                        </a:spcBef>
                      </a:pPr>
                    </a:p>
                    <a:p>
                      <a:pPr marL="1130300" algn="l">
                        <a:lnSpc>
                          <a:spcPts val="1110"/>
                        </a:lnSpc>
                        <a:spcBef>
                          <a:spcPts val="8730"/>
                        </a:spcBef>
                      </a:pPr>
                    </a:p>
                    <a:p>
                      <a:pPr marL="1130300" algn="l">
                        <a:lnSpc>
                          <a:spcPts val="919"/>
                        </a:lnSpc>
                        <a:spcBef>
                          <a:spcPts val="1360"/>
                        </a:spcBef>
                      </a:pPr>
                    </a:p>
                    <a:p>
                      <a:pPr marL="1130300" algn="l">
                        <a:lnSpc>
                          <a:spcPts val="880"/>
                        </a:lnSpc>
                        <a:spcBef>
                          <a:spcPts val="1590"/>
                        </a:spcBef>
                      </a:pPr>
                    </a:p>
                    <a:p>
                      <a:pPr marL="1016000" algn="l">
                        <a:lnSpc>
                          <a:spcPts val="1019"/>
                        </a:lnSpc>
                        <a:spcBef>
                          <a:spcPts val="12290"/>
                        </a:spcBef>
                      </a:pPr>
                    </a:p>
                    <a:p>
                      <a:pPr marL="749300" algn="l">
                        <a:lnSpc>
                          <a:spcPts val="1060"/>
                        </a:lnSpc>
                        <a:spcBef>
                          <a:spcPts val="2860"/>
                        </a:spcBef>
                      </a:pPr>
                    </a:p>
                    <a:p>
                      <a:pPr marL="749300" algn="l">
                        <a:lnSpc>
                          <a:spcPts val="1060"/>
                        </a:lnSpc>
                        <a:spcBef>
                          <a:spcPts val="1040"/>
                        </a:spcBef>
                      </a:pPr>
                    </a:p>
                    <a:p>
                      <a:pPr marL="749300" algn="l">
                        <a:lnSpc>
                          <a:spcPts val="1070"/>
                        </a:lnSpc>
                        <a:spcBef>
                          <a:spcPts val="1030"/>
                        </a:spcBef>
                      </a:pPr>
                    </a:p>
                    <a:p>
                      <a:pPr marL="749300" algn="l">
                        <a:lnSpc>
                          <a:spcPts val="1070"/>
                        </a:lnSpc>
                        <a:spcBef>
                          <a:spcPts val="1030"/>
                        </a:spcBef>
                      </a:pPr>
                    </a:p>
                    <a:p>
                      <a:pPr marL="749300" algn="l">
                        <a:lnSpc>
                          <a:spcPts val="1060"/>
                        </a:lnSpc>
                        <a:spcBef>
                          <a:spcPts val="1040"/>
                        </a:spcBef>
                      </a:pPr>
                    </a:p>
                    <a:p>
                      <a:pPr marL="1016000" algn="l">
                        <a:lnSpc>
                          <a:spcPts val="1019"/>
                        </a:lnSpc>
                        <a:spcBef>
                          <a:spcPts val="5260"/>
                        </a:spcBef>
                      </a:pPr>
                    </a:p>
                    <a:p>
                      <a:pPr marL="835660" algn="l">
                        <a:lnSpc>
                          <a:spcPts val="1290"/>
                        </a:lnSpc>
                        <a:spcBef>
                          <a:spcPts val="3340"/>
                        </a:spcBef>
                      </a:pPr>
                    </a:p>
                    <a:p>
                      <a:pPr marL="835660" algn="l">
                        <a:lnSpc>
                          <a:spcPts val="1080"/>
                        </a:lnSpc>
                        <a:spcBef>
                          <a:spcPts val="240"/>
                        </a:spcBef>
                      </a:pPr>
                    </a:p>
                    <a:p>
                      <a:pPr marL="835660" algn="l">
                        <a:lnSpc>
                          <a:spcPts val="1050"/>
                        </a:lnSpc>
                        <a:spcBef>
                          <a:spcPts val="290"/>
                        </a:spcBef>
                        <a:spcAft>
                          <a:spcPts val="2070"/>
                        </a:spcAft>
                      </a:pPr>
                    </a:p>
                  </a:txBody>
                  <a:tcPr marL="0" marR="0" marT="0" marB="0" vert="horz">
                    <a:lnL w="635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1270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635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635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52450" y="704850"/>
          <a:ext cx="280669" cy="28066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0669"/>
              </a:tblGrid>
              <a:tr h="280669">
                <a:tc>
                  <a:txBody>
                    <a:bodyPr/>
                    <a:lstStyle/>
                    <a:p>
                      <a:pPr>
                        <a:lnSpc>
                          <a:spcPts val="2189"/>
                        </a:lnSpc>
                      </a:p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2539" cap="flat" cmpd="sng" algn="ctr">
                      <a:solidFill>
                        <a:srgbClr val="888888">
                          <a:alpha val="10000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2539" cap="flat" cmpd="sng" algn="ctr">
                      <a:solidFill>
                        <a:srgbClr val="888888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981200" y="1409700"/>
            <a:ext cx="2733040" cy="1193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90CDF4"/>
                </a:solidFill>
                <a:latin typeface="Roboto Regular"/>
              </a:rPr>
              <a:t>UETNOWSHERA | ELECTRICAL ENGINEERING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14500" y="1915160"/>
            <a:ext cx="3600450" cy="3708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4000">
                <a:solidFill>
                  <a:srgbClr val="B8B4B4"/>
                </a:solidFill>
                <a:latin typeface="Roboto Regular"/>
              </a:rPr>
              <a:t>LAB REPORT 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7060" y="2754630"/>
            <a:ext cx="3012440" cy="1384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500">
                <a:solidFill>
                  <a:srgbClr val="F6E05E"/>
                </a:solidFill>
                <a:latin typeface="Roboto Regular"/>
              </a:rPr>
              <a:t>ONE-DIMENSIONAL ARRAYS IN C++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2840" y="4032250"/>
            <a:ext cx="609599" cy="11048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200">
                <a:solidFill>
                  <a:srgbClr val="2B6CB0"/>
                </a:solidFill>
                <a:latin typeface="Roboto Regular"/>
              </a:rPr>
              <a:t>COURSE: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13940" y="4032250"/>
            <a:ext cx="1615439" cy="1409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200">
                <a:solidFill>
                  <a:srgbClr val="000000"/>
                </a:solidFill>
                <a:latin typeface="Roboto Regular"/>
              </a:rPr>
              <a:t>Computer Programming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2840" y="4356100"/>
            <a:ext cx="627379" cy="111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200">
                <a:solidFill>
                  <a:srgbClr val="2B6CB0"/>
                </a:solidFill>
                <a:latin typeface="Roboto Regular"/>
              </a:rPr>
              <a:t>AUTHOR: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4351020"/>
            <a:ext cx="941069" cy="1168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200">
                <a:solidFill>
                  <a:srgbClr val="000000"/>
                </a:solidFill>
                <a:latin typeface="Roboto Regular"/>
              </a:rPr>
              <a:t>Tahseen ullah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2840" y="4669790"/>
            <a:ext cx="656590" cy="111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200">
                <a:solidFill>
                  <a:srgbClr val="2B6CB0"/>
                </a:solidFill>
                <a:latin typeface="Roboto Regular"/>
              </a:rPr>
              <a:t>ROLL NO: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13940" y="4669790"/>
            <a:ext cx="1191260" cy="111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200">
                <a:solidFill>
                  <a:srgbClr val="000000"/>
                </a:solidFill>
                <a:latin typeface="Roboto Regular"/>
              </a:rPr>
              <a:t>BF25NWELE0735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8540" y="6342380"/>
            <a:ext cx="144779" cy="1295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B8B4B4"/>
                </a:solidFill>
                <a:latin typeface="Noto Serif"/>
              </a:rPr>
              <a:t>1.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6342380"/>
            <a:ext cx="880110" cy="1295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B8B4B4"/>
                </a:solidFill>
                <a:latin typeface="Roboto Regular"/>
              </a:rPr>
              <a:t>OBJECTIVE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1840" y="6835140"/>
            <a:ext cx="3399790" cy="1346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Noto Serif"/>
              </a:rPr>
              <a:t>•</a:t>
            </a:r>
            <a:r>
              <a:rPr spc="-100" sz="1100">
                <a:solidFill>
                  <a:srgbClr val="000000"/>
                </a:solidFill>
                <a:latin typeface="Roboto Regular"/>
              </a:rPr>
              <a:t>To understand what an array is and why it is used in C++.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1840" y="7101840"/>
            <a:ext cx="3614420" cy="1346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Noto Serif"/>
              </a:rPr>
              <a:t>•</a:t>
            </a:r>
            <a:r>
              <a:rPr spc="-100" sz="1100">
                <a:solidFill>
                  <a:srgbClr val="000000"/>
                </a:solidFill>
                <a:latin typeface="Roboto Regular"/>
              </a:rPr>
              <a:t>To learn how to declare and initialize one-dimensional arrays.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1840" y="7367270"/>
            <a:ext cx="4436110" cy="13588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Noto Serif"/>
              </a:rPr>
              <a:t>•</a:t>
            </a:r>
            <a:r>
              <a:rPr spc="-100" sz="1100">
                <a:solidFill>
                  <a:srgbClr val="000000"/>
                </a:solidFill>
                <a:latin typeface="Roboto Regular"/>
              </a:rPr>
              <a:t>To access, read, and modify individual array elements using index notation.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1840" y="7633970"/>
            <a:ext cx="3395980" cy="13588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Noto Serif"/>
              </a:rPr>
              <a:t>•</a:t>
            </a:r>
            <a:r>
              <a:rPr spc="-100" sz="1100">
                <a:solidFill>
                  <a:srgbClr val="000000"/>
                </a:solidFill>
                <a:latin typeface="Roboto Regular"/>
              </a:rPr>
              <a:t>To copy elements fromone array to another using a loop.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1840" y="7901940"/>
            <a:ext cx="5816600" cy="1346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Noto Serif"/>
              </a:rPr>
              <a:t>•</a:t>
            </a:r>
            <a:r>
              <a:rPr spc="-100" sz="1100">
                <a:solidFill>
                  <a:srgbClr val="000000"/>
                </a:solidFill>
                <a:latin typeface="Roboto Regular"/>
              </a:rPr>
              <a:t>To work with character arrays and understand how individual characters are stored and accessed.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8540" y="8704580"/>
            <a:ext cx="144779" cy="1295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B8B4B4"/>
                </a:solidFill>
                <a:latin typeface="Noto Serif"/>
              </a:rPr>
              <a:t>2.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8704580"/>
            <a:ext cx="2277110" cy="1295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B8B4B4"/>
                </a:solidFill>
                <a:latin typeface="Roboto Regular"/>
              </a:rPr>
              <a:t>THEORETICAL BACKGROUND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200" y="9258300"/>
            <a:ext cx="5811520" cy="1638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1A365D"/>
                </a:solidFill>
                <a:latin typeface="Roboto Regular"/>
              </a:rPr>
              <a:t>What is an Array?</a:t>
            </a:r>
            <a:r>
              <a:rPr spc="-100" sz="1100">
                <a:solidFill>
                  <a:srgbClr val="000000"/>
                </a:solidFill>
                <a:latin typeface="Roboto Regular"/>
              </a:rPr>
              <a:t> An array is a data structure in C++ that stores a fixed-size sequential collection of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9452610"/>
            <a:ext cx="5601970" cy="137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Roboto Regular"/>
              </a:rPr>
              <a:t>elements all of the same type. Rather than declaring a separate variable for each value, an array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200" y="9626600"/>
            <a:ext cx="400939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Roboto Regular"/>
              </a:rPr>
              <a:t>groups multiple values under a single name and allows each value to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552450" y="10025380"/>
          <a:ext cx="280669" cy="2679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0669"/>
              </a:tblGrid>
              <a:tr h="267970">
                <a:tc>
                  <a:txBody>
                    <a:bodyPr/>
                    <a:lstStyle/>
                    <a:p>
                      <a:pPr>
                        <a:lnSpc>
                          <a:spcPts val="2190"/>
                        </a:lnSpc>
                      </a:p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2539" cap="flat" cmpd="sng" algn="ctr">
                      <a:solidFill>
                        <a:srgbClr val="888888">
                          <a:alpha val="100000"/>
                        </a:srgbClr>
                      </a:solidFill>
                    </a:lnR>
                    <a:lnT w="2539" cap="flat" cmpd="sng" algn="ctr">
                      <a:solidFill>
                        <a:srgbClr val="888888">
                          <a:alpha val="10000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6767830" y="10025380"/>
          <a:ext cx="280670" cy="2679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0670"/>
              </a:tblGrid>
              <a:tr h="267970">
                <a:tc>
                  <a:txBody>
                    <a:bodyPr/>
                    <a:lstStyle/>
                    <a:p>
                      <a:pPr>
                        <a:lnSpc>
                          <a:spcPts val="2190"/>
                        </a:lnSpc>
                      </a:pPr>
                    </a:p>
                  </a:txBody>
                  <a:tcPr marL="0" marR="0" marT="0" marB="0" vert="horz">
                    <a:lnL w="2222" cap="flat" cmpd="sng" algn="ctr">
                      <a:solidFill>
                        <a:srgbClr val="888888">
                          <a:alpha val="10000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2539" cap="flat" cmpd="sng" algn="ctr">
                      <a:solidFill>
                        <a:srgbClr val="888888">
                          <a:alpha val="10000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3959" cy="106870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0" y="3797300"/>
            <a:ext cx="2381250" cy="7239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400" y="5365750"/>
            <a:ext cx="2838450" cy="7239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767830" y="247650"/>
          <a:ext cx="280670" cy="2806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0670"/>
              </a:tblGrid>
              <a:tr h="280670">
                <a:tc>
                  <a:txBody>
                    <a:bodyPr/>
                    <a:lstStyle/>
                    <a:p>
                      <a:pPr>
                        <a:lnSpc>
                          <a:spcPts val="2190"/>
                        </a:lnSpc>
                      </a:pPr>
                    </a:p>
                  </a:txBody>
                  <a:tcPr marL="0" marR="0" marT="0" marB="0" vert="horz">
                    <a:lnL w="2222" cap="flat" cmpd="sng" algn="ctr">
                      <a:solidFill>
                        <a:srgbClr val="888888">
                          <a:alpha val="10000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2539" cap="flat" cmpd="sng" algn="ctr">
                      <a:solidFill>
                        <a:srgbClr val="888888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270" y="1270"/>
          <a:ext cx="6742430" cy="106845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42430"/>
              </a:tblGrid>
              <a:tr h="10684510">
                <a:tc>
                  <a:txBody>
                    <a:bodyPr/>
                    <a:lstStyle/>
                    <a:p/>
                    <a:p>
                      <a:pPr marL="835660" algn="l">
                        <a:lnSpc>
                          <a:spcPts val="1060"/>
                        </a:lnSpc>
                        <a:spcBef>
                          <a:spcPts val="240"/>
                        </a:spcBef>
                      </a:pPr>
                    </a:p>
                    <a:p>
                      <a:pPr marL="835660" algn="l">
                        <a:lnSpc>
                          <a:spcPts val="1290"/>
                        </a:lnSpc>
                        <a:spcBef>
                          <a:spcPts val="90"/>
                        </a:spcBef>
                      </a:pPr>
                    </a:p>
                    <a:p>
                      <a:pPr marL="835660" algn="l">
                        <a:lnSpc>
                          <a:spcPts val="1350"/>
                        </a:lnSpc>
                        <a:spcBef>
                          <a:spcPts val="1019"/>
                        </a:spcBef>
                      </a:pPr>
                    </a:p>
                    <a:p>
                      <a:pPr marL="835660" algn="l">
                        <a:lnSpc>
                          <a:spcPts val="1060"/>
                        </a:lnSpc>
                        <a:spcBef>
                          <a:spcPts val="1350"/>
                        </a:spcBef>
                      </a:pPr>
                    </a:p>
                    <a:p>
                      <a:pPr marL="835660" algn="l">
                        <a:lnSpc>
                          <a:spcPts val="1290"/>
                        </a:lnSpc>
                        <a:spcBef>
                          <a:spcPts val="90"/>
                        </a:spcBef>
                      </a:pPr>
                    </a:p>
                    <a:p>
                      <a:pPr marL="835660" algn="l">
                        <a:lnSpc>
                          <a:spcPts val="1340"/>
                        </a:lnSpc>
                      </a:pPr>
                    </a:p>
                    <a:p>
                      <a:pPr marL="835660" algn="l">
                        <a:lnSpc>
                          <a:spcPts val="830"/>
                        </a:lnSpc>
                        <a:spcBef>
                          <a:spcPts val="520"/>
                        </a:spcBef>
                      </a:pPr>
                    </a:p>
                    <a:p>
                      <a:pPr marL="835660" algn="l">
                        <a:lnSpc>
                          <a:spcPts val="1350"/>
                        </a:lnSpc>
                        <a:spcBef>
                          <a:spcPts val="1050"/>
                        </a:spcBef>
                      </a:pPr>
                    </a:p>
                    <a:p>
                      <a:pPr marL="1016000" algn="l">
                        <a:lnSpc>
                          <a:spcPts val="1030"/>
                        </a:lnSpc>
                        <a:spcBef>
                          <a:spcPts val="4650"/>
                        </a:spcBef>
                      </a:pPr>
                    </a:p>
                    <a:p>
                      <a:pPr marL="749300" algn="l">
                        <a:lnSpc>
                          <a:spcPts val="800"/>
                        </a:lnSpc>
                        <a:spcBef>
                          <a:spcPts val="2890"/>
                        </a:spcBef>
                      </a:pPr>
                    </a:p>
                    <a:p>
                      <a:pPr marL="749300" algn="l">
                        <a:lnSpc>
                          <a:spcPts val="1130"/>
                        </a:lnSpc>
                        <a:spcBef>
                          <a:spcPts val="1210"/>
                        </a:spcBef>
                      </a:pPr>
                    </a:p>
                    <a:p>
                      <a:pPr marL="1016000" algn="l">
                        <a:lnSpc>
                          <a:spcPts val="1019"/>
                        </a:lnSpc>
                        <a:spcBef>
                          <a:spcPts val="5310"/>
                        </a:spcBef>
                      </a:pPr>
                    </a:p>
                    <a:p>
                      <a:pPr marL="835660" algn="l">
                        <a:lnSpc>
                          <a:spcPts val="1250"/>
                        </a:lnSpc>
                        <a:spcBef>
                          <a:spcPts val="4620"/>
                        </a:spcBef>
                      </a:pPr>
                    </a:p>
                    <a:p>
                      <a:pPr marL="835660" algn="l">
                        <a:lnSpc>
                          <a:spcPts val="1350"/>
                        </a:lnSpc>
                        <a:spcBef>
                          <a:spcPts val="1200"/>
                        </a:spcBef>
                        <a:spcAft>
                          <a:spcPts val="22250"/>
                        </a:spcAft>
                      </a:pPr>
                    </a:p>
                  </a:txBody>
                  <a:tcPr marL="0" marR="0" marT="0" marB="0" vert="horz">
                    <a:lnL w="635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1270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635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635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52450" y="247650"/>
          <a:ext cx="280669" cy="2806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0669"/>
              </a:tblGrid>
              <a:tr h="280670">
                <a:tc>
                  <a:txBody>
                    <a:bodyPr/>
                    <a:lstStyle/>
                    <a:p>
                      <a:pPr>
                        <a:lnSpc>
                          <a:spcPts val="2190"/>
                        </a:lnSpc>
                      </a:p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2539" cap="flat" cmpd="sng" algn="ctr">
                      <a:solidFill>
                        <a:srgbClr val="888888">
                          <a:alpha val="10000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2539" cap="flat" cmpd="sng" algn="ctr">
                      <a:solidFill>
                        <a:srgbClr val="888888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38200" y="558800"/>
            <a:ext cx="5803900" cy="1346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Roboto Regular"/>
              </a:rPr>
              <a:t>be accessed by its numeric index. All array elements occupy contiguous memory locations, with the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704850"/>
            <a:ext cx="2950210" cy="1638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Roboto Regular"/>
              </a:rPr>
              <a:t>lowest address corresponding to the first element.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032510"/>
            <a:ext cx="5861050" cy="1371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1A365D"/>
                </a:solidFill>
                <a:latin typeface="Roboto Regular"/>
              </a:rPr>
              <a:t>Declaration &amp; Initialization.</a:t>
            </a:r>
            <a:r>
              <a:rPr spc="-100" sz="1100">
                <a:solidFill>
                  <a:srgbClr val="000000"/>
                </a:solidFill>
                <a:latin typeface="Roboto Regular"/>
              </a:rPr>
              <a:t> An array is declared by specifying the data type, a name, and the number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1197610"/>
            <a:ext cx="5292090" cy="1435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Roboto Regular"/>
              </a:rPr>
              <a:t>of elements in square brackets, such as int age[4];. An array can be initialized at the time of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1375410"/>
            <a:ext cx="5638800" cy="1371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Roboto Regular"/>
              </a:rPr>
              <a:t>declaration by providing a comma-separated list of values enclosed in curly braces. Alternatively,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1546860"/>
            <a:ext cx="4786630" cy="1358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Roboto Regular"/>
              </a:rPr>
              <a:t>individual elements can be assigned values after declaration using index notation.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1854200"/>
            <a:ext cx="5431790" cy="1346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1A365D"/>
                </a:solidFill>
                <a:latin typeface="Roboto Regular"/>
              </a:rPr>
              <a:t>Accessing &amp; Copying Array Elements.</a:t>
            </a:r>
            <a:r>
              <a:rPr spc="-100" sz="1100">
                <a:solidFill>
                  <a:srgbClr val="000000"/>
                </a:solidFill>
                <a:latin typeface="Roboto Regular"/>
              </a:rPr>
              <a:t> Individual elements are accessed using the array name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2000250"/>
            <a:ext cx="5636260" cy="1638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Roboto Regular"/>
              </a:rPr>
              <a:t>followed by the index in square brackets. Array indices in C++ begin at 0, so the first element is 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2194560"/>
            <a:ext cx="5458460" cy="1371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Roboto Regular"/>
              </a:rPr>
              <a:t>index 0 and the last element of an array of size n is at index n-1. C++ does not provide a single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2368550"/>
            <a:ext cx="5709920" cy="1346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Roboto Regular"/>
              </a:rPr>
              <a:t>statement to copy an entire array. Each element must be copied individually using a loop, iterating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200" y="2540000"/>
            <a:ext cx="5778500" cy="1346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Roboto Regular"/>
              </a:rPr>
              <a:t>through every index to assign each source element to the corresponding position in the destination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" y="2740660"/>
            <a:ext cx="340359" cy="1054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Roboto Regular"/>
              </a:rPr>
              <a:t>array.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3013710"/>
            <a:ext cx="5576570" cy="1371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1A365D"/>
                </a:solidFill>
                <a:latin typeface="Roboto Regular"/>
              </a:rPr>
              <a:t>Character Arrays.</a:t>
            </a:r>
            <a:r>
              <a:rPr spc="-100" sz="1100">
                <a:solidFill>
                  <a:srgbClr val="000000"/>
                </a:solidFill>
                <a:latin typeface="Roboto Regular"/>
              </a:rPr>
              <a:t> A character array stores a sequence of characters, and in C++, a word can be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200" y="3187700"/>
            <a:ext cx="5855970" cy="1346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Roboto Regular"/>
              </a:rPr>
              <a:t>represented as a character array where each element holds one character. Individual characters can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3359150"/>
            <a:ext cx="4359910" cy="1346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Roboto Regular"/>
              </a:rPr>
              <a:t>be accessed and printed using the same index notation as any other array.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8540" y="4084320"/>
            <a:ext cx="144779" cy="1308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B8B4B4"/>
                </a:solidFill>
                <a:latin typeface="Noto Serif"/>
              </a:rPr>
              <a:t>3.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084320"/>
            <a:ext cx="1353820" cy="1308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B8B4B4"/>
                </a:solidFill>
                <a:latin typeface="Roboto Regular"/>
              </a:rPr>
              <a:t>SOFTWARE USED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1840" y="4582160"/>
            <a:ext cx="105918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Noto Serif"/>
              </a:rPr>
              <a:t>•</a:t>
            </a:r>
            <a:r>
              <a:rPr spc="-100" sz="1100">
                <a:solidFill>
                  <a:srgbClr val="000000"/>
                </a:solidFill>
                <a:latin typeface="Roboto Regular"/>
              </a:rPr>
              <a:t>IDE: DEV-C++ IDE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1840" y="4837430"/>
            <a:ext cx="2856230" cy="1435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Noto Serif"/>
              </a:rPr>
              <a:t>•</a:t>
            </a:r>
            <a:r>
              <a:rPr spc="-100" sz="1100">
                <a:solidFill>
                  <a:srgbClr val="000000"/>
                </a:solidFill>
                <a:latin typeface="Roboto Regular"/>
              </a:rPr>
              <a:t>Compiler: C++ Compiler (bundled with DEV-C++)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8540" y="5657850"/>
            <a:ext cx="144779" cy="1282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B8B4B4"/>
                </a:solidFill>
                <a:latin typeface="Noto Serif"/>
              </a:rPr>
              <a:t>4.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656580"/>
            <a:ext cx="1794510" cy="1295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B8B4B4"/>
                </a:solidFill>
                <a:latin typeface="Roboto Regular"/>
              </a:rPr>
              <a:t>EXPERIMENTAL TASKS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200" y="6372860"/>
            <a:ext cx="2998470" cy="1587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300">
                <a:solidFill>
                  <a:srgbClr val="DD6B20"/>
                </a:solidFill>
                <a:latin typeface="Roboto Regular"/>
              </a:rPr>
              <a:t>Task 1: Array Declaration and Initialization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6719570"/>
            <a:ext cx="5839459" cy="13588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Roboto Regular"/>
              </a:rPr>
              <a:t>An integer array named numbers of size 5 was declared and initialized with the values 10, 20, 30, 40,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200" y="6891020"/>
            <a:ext cx="5891530" cy="13588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Roboto Regular"/>
              </a:rPr>
              <a:t>and 50. A for loop was then used to iterate through the array and display each element along with its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7062470"/>
            <a:ext cx="2339340" cy="1346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Roboto Regular"/>
              </a:rPr>
              <a:t>index. The implementation is as follows: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552450" y="10025380"/>
          <a:ext cx="280669" cy="2679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0669"/>
              </a:tblGrid>
              <a:tr h="267970">
                <a:tc>
                  <a:txBody>
                    <a:bodyPr/>
                    <a:lstStyle/>
                    <a:p>
                      <a:pPr>
                        <a:lnSpc>
                          <a:spcPts val="2190"/>
                        </a:lnSpc>
                      </a:p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2539" cap="flat" cmpd="sng" algn="ctr">
                      <a:solidFill>
                        <a:srgbClr val="888888">
                          <a:alpha val="100000"/>
                        </a:srgbClr>
                      </a:solidFill>
                    </a:lnR>
                    <a:lnT w="2539" cap="flat" cmpd="sng" algn="ctr">
                      <a:solidFill>
                        <a:srgbClr val="888888">
                          <a:alpha val="10000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6767830" y="10025380"/>
          <a:ext cx="280670" cy="2679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0670"/>
              </a:tblGrid>
              <a:tr h="267970">
                <a:tc>
                  <a:txBody>
                    <a:bodyPr/>
                    <a:lstStyle/>
                    <a:p>
                      <a:pPr>
                        <a:lnSpc>
                          <a:spcPts val="2190"/>
                        </a:lnSpc>
                      </a:pPr>
                    </a:p>
                  </a:txBody>
                  <a:tcPr marL="0" marR="0" marT="0" marB="0" vert="horz">
                    <a:lnL w="2222" cap="flat" cmpd="sng" algn="ctr">
                      <a:solidFill>
                        <a:srgbClr val="888888">
                          <a:alpha val="10000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2539" cap="flat" cmpd="sng" algn="ctr">
                      <a:solidFill>
                        <a:srgbClr val="888888">
                          <a:alpha val="10000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3959" cy="106870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1159" y="0"/>
            <a:ext cx="5080" cy="106870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400" y="406400"/>
            <a:ext cx="6223000" cy="28257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400" y="4273550"/>
            <a:ext cx="6223000" cy="282575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767830" y="247650"/>
          <a:ext cx="280670" cy="2806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0670"/>
              </a:tblGrid>
              <a:tr h="280670">
                <a:tc>
                  <a:txBody>
                    <a:bodyPr/>
                    <a:lstStyle/>
                    <a:p>
                      <a:pPr>
                        <a:lnSpc>
                          <a:spcPts val="2190"/>
                        </a:lnSpc>
                      </a:pPr>
                    </a:p>
                  </a:txBody>
                  <a:tcPr marL="0" marR="0" marT="0" marB="0" vert="horz">
                    <a:lnL w="2222" cap="flat" cmpd="sng" algn="ctr">
                      <a:solidFill>
                        <a:srgbClr val="888888">
                          <a:alpha val="10000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2539" cap="flat" cmpd="sng" algn="ctr">
                      <a:solidFill>
                        <a:srgbClr val="888888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270" y="1270"/>
          <a:ext cx="6742430" cy="106845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42430"/>
              </a:tblGrid>
              <a:tr h="10684510">
                <a:tc>
                  <a:txBody>
                    <a:bodyPr/>
                    <a:lstStyle/>
                    <a:p/>
                    <a:p>
                      <a:pPr marL="1026160" algn="l">
                        <a:lnSpc>
                          <a:spcPts val="760"/>
                        </a:lnSpc>
                        <a:spcBef>
                          <a:spcPts val="2020"/>
                        </a:spcBef>
                      </a:pPr>
                    </a:p>
                    <a:p>
                      <a:pPr marL="1026160" algn="l">
                        <a:lnSpc>
                          <a:spcPts val="940"/>
                        </a:lnSpc>
                        <a:spcBef>
                          <a:spcPts val="530"/>
                        </a:spcBef>
                      </a:pPr>
                    </a:p>
                    <a:p>
                      <a:pPr marL="1026160" algn="l">
                        <a:lnSpc>
                          <a:spcPts val="1340"/>
                        </a:lnSpc>
                        <a:spcBef>
                          <a:spcPts val="1370"/>
                        </a:spcBef>
                      </a:pPr>
                    </a:p>
                    <a:p>
                      <a:pPr marL="1311910" algn="l">
                        <a:lnSpc>
                          <a:spcPts val="990"/>
                        </a:lnSpc>
                        <a:spcBef>
                          <a:spcPts val="60"/>
                        </a:spcBef>
                      </a:pPr>
                    </a:p>
                    <a:p>
                      <a:pPr marL="1311910" algn="l">
                        <a:lnSpc>
                          <a:spcPts val="960"/>
                        </a:lnSpc>
                        <a:spcBef>
                          <a:spcPts val="1700"/>
                        </a:spcBef>
                      </a:pPr>
                    </a:p>
                    <a:p>
                      <a:pPr marL="1311910" algn="l">
                        <a:lnSpc>
                          <a:spcPts val="1030"/>
                        </a:lnSpc>
                        <a:spcBef>
                          <a:spcPts val="340"/>
                        </a:spcBef>
                      </a:pPr>
                    </a:p>
                    <a:p>
                      <a:pPr marL="1597660" algn="l">
                        <a:lnSpc>
                          <a:spcPts val="980"/>
                        </a:lnSpc>
                        <a:spcBef>
                          <a:spcPts val="40"/>
                        </a:spcBef>
                      </a:pPr>
                    </a:p>
                    <a:p>
                      <a:pPr marL="1140460" algn="l">
                        <a:lnSpc>
                          <a:spcPts val="960"/>
                        </a:lnSpc>
                        <a:spcBef>
                          <a:spcPts val="340"/>
                        </a:spcBef>
                      </a:pPr>
                    </a:p>
                    <a:p>
                      <a:pPr marL="1311910" algn="l">
                        <a:lnSpc>
                          <a:spcPts val="860"/>
                        </a:lnSpc>
                        <a:spcBef>
                          <a:spcPts val="250"/>
                        </a:spcBef>
                      </a:pPr>
                    </a:p>
                    <a:p>
                      <a:pPr marL="1026160" algn="l">
                        <a:lnSpc>
                          <a:spcPts val="960"/>
                        </a:lnSpc>
                        <a:spcBef>
                          <a:spcPts val="430"/>
                        </a:spcBef>
                      </a:pPr>
                    </a:p>
                    <a:p>
                      <a:pPr marL="835660" algn="l">
                        <a:lnSpc>
                          <a:spcPts val="1250"/>
                        </a:lnSpc>
                        <a:spcBef>
                          <a:spcPts val="3629"/>
                        </a:spcBef>
                      </a:pPr>
                    </a:p>
                    <a:p>
                      <a:pPr marL="835660" algn="l">
                        <a:lnSpc>
                          <a:spcPts val="1350"/>
                        </a:lnSpc>
                        <a:spcBef>
                          <a:spcPts val="1200"/>
                        </a:spcBef>
                      </a:pPr>
                    </a:p>
                    <a:p>
                      <a:pPr marL="835660" algn="l">
                        <a:lnSpc>
                          <a:spcPts val="850"/>
                        </a:lnSpc>
                        <a:spcBef>
                          <a:spcPts val="270"/>
                        </a:spcBef>
                      </a:pPr>
                    </a:p>
                    <a:p>
                      <a:pPr marL="1026160" algn="l">
                        <a:lnSpc>
                          <a:spcPts val="760"/>
                        </a:lnSpc>
                        <a:spcBef>
                          <a:spcPts val="2300"/>
                        </a:spcBef>
                      </a:pPr>
                    </a:p>
                    <a:p>
                      <a:pPr marL="1026160" algn="l">
                        <a:lnSpc>
                          <a:spcPts val="940"/>
                        </a:lnSpc>
                        <a:spcBef>
                          <a:spcPts val="530"/>
                        </a:spcBef>
                      </a:pPr>
                    </a:p>
                    <a:p>
                      <a:pPr marL="1026160" algn="l">
                        <a:lnSpc>
                          <a:spcPts val="1340"/>
                        </a:lnSpc>
                        <a:spcBef>
                          <a:spcPts val="1370"/>
                        </a:spcBef>
                      </a:pPr>
                    </a:p>
                    <a:p>
                      <a:pPr marL="1311910" algn="l">
                        <a:lnSpc>
                          <a:spcPts val="1010"/>
                        </a:lnSpc>
                        <a:spcBef>
                          <a:spcPts val="60"/>
                        </a:spcBef>
                      </a:pPr>
                    </a:p>
                    <a:p>
                      <a:pPr marL="1311910" algn="l">
                        <a:lnSpc>
                          <a:spcPts val="950"/>
                        </a:lnSpc>
                        <a:spcBef>
                          <a:spcPts val="1660"/>
                        </a:spcBef>
                      </a:pPr>
                    </a:p>
                    <a:p>
                      <a:pPr marL="1311910" algn="l">
                        <a:lnSpc>
                          <a:spcPts val="1330"/>
                        </a:lnSpc>
                        <a:spcBef>
                          <a:spcPts val="50"/>
                        </a:spcBef>
                      </a:pPr>
                    </a:p>
                    <a:p>
                      <a:pPr marL="1140460" algn="l">
                        <a:lnSpc>
                          <a:spcPts val="960"/>
                        </a:lnSpc>
                        <a:spcBef>
                          <a:spcPts val="280"/>
                        </a:spcBef>
                      </a:pPr>
                    </a:p>
                    <a:p>
                      <a:pPr marL="1311910" algn="l">
                        <a:lnSpc>
                          <a:spcPts val="860"/>
                        </a:lnSpc>
                        <a:spcBef>
                          <a:spcPts val="250"/>
                        </a:spcBef>
                      </a:pPr>
                    </a:p>
                    <a:p>
                      <a:pPr marL="1026160" algn="l">
                        <a:lnSpc>
                          <a:spcPts val="960"/>
                        </a:lnSpc>
                        <a:spcBef>
                          <a:spcPts val="430"/>
                        </a:spcBef>
                      </a:pPr>
                    </a:p>
                    <a:p>
                      <a:pPr marL="835660" algn="l">
                        <a:lnSpc>
                          <a:spcPts val="1250"/>
                        </a:lnSpc>
                        <a:spcBef>
                          <a:spcPts val="3629"/>
                        </a:spcBef>
                      </a:pPr>
                    </a:p>
                    <a:p>
                      <a:pPr marL="835660" algn="l">
                        <a:lnSpc>
                          <a:spcPts val="1080"/>
                        </a:lnSpc>
                        <a:spcBef>
                          <a:spcPts val="1470"/>
                        </a:spcBef>
                      </a:pPr>
                    </a:p>
                    <a:p>
                      <a:pPr algn="ctr">
                        <a:lnSpc>
                          <a:spcPts val="1290"/>
                        </a:lnSpc>
                        <a:spcBef>
                          <a:spcPts val="90"/>
                        </a:spcBef>
                      </a:pPr>
                    </a:p>
                    <a:p>
                      <a:pPr marL="835660" algn="l">
                        <a:lnSpc>
                          <a:spcPts val="1320"/>
                        </a:lnSpc>
                        <a:spcAft>
                          <a:spcPts val="13930"/>
                        </a:spcAft>
                      </a:pPr>
                    </a:p>
                  </a:txBody>
                  <a:tcPr marL="0" marR="0" marT="0" marB="0" vert="horz">
                    <a:lnL w="635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635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635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52450" y="247650"/>
          <a:ext cx="280669" cy="2806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0669"/>
              </a:tblGrid>
              <a:tr h="280670">
                <a:tc>
                  <a:txBody>
                    <a:bodyPr/>
                    <a:lstStyle/>
                    <a:p>
                      <a:pPr>
                        <a:lnSpc>
                          <a:spcPts val="2190"/>
                        </a:lnSpc>
                      </a:p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2539" cap="flat" cmpd="sng" algn="ctr">
                      <a:solidFill>
                        <a:srgbClr val="888888">
                          <a:alpha val="10000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2539" cap="flat" cmpd="sng" algn="ctr">
                      <a:solidFill>
                        <a:srgbClr val="888888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028700" y="784860"/>
            <a:ext cx="467359" cy="965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569CD6"/>
                </a:solidFill>
                <a:latin typeface="Roboto Regular"/>
              </a:rPr>
              <a:t>#include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76400" y="784860"/>
            <a:ext cx="890269" cy="965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D4D4D4"/>
                </a:solidFill>
                <a:latin typeface="Roboto Regular"/>
              </a:rPr>
              <a:t>"str"&gt;&lt;iostream&gt;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" y="949960"/>
            <a:ext cx="299719" cy="1181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569CD6"/>
                </a:solidFill>
                <a:latin typeface="Roboto Regular"/>
              </a:rPr>
              <a:t>using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57960" y="956310"/>
            <a:ext cx="883920" cy="1130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569CD6"/>
                </a:solidFill>
                <a:latin typeface="Roboto Regular"/>
              </a:rPr>
              <a:t>namespace</a:t>
            </a:r>
            <a:r>
              <a:rPr spc="-100" sz="1000">
                <a:solidFill>
                  <a:srgbClr val="D4D4D4"/>
                </a:solidFill>
                <a:latin typeface="Roboto Regular"/>
              </a:rPr>
              <a:t> std;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" y="1282700"/>
            <a:ext cx="661669" cy="1308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569CD6"/>
                </a:solidFill>
                <a:latin typeface="Roboto Regular"/>
              </a:rPr>
              <a:t>int</a:t>
            </a:r>
            <a:r>
              <a:rPr spc="-100" sz="1000">
                <a:solidFill>
                  <a:srgbClr val="D4D4D4"/>
                </a:solidFill>
                <a:latin typeface="Roboto Regular"/>
              </a:rPr>
              <a:t> main() {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14450" y="1460500"/>
            <a:ext cx="2642870" cy="1231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6A9955"/>
                </a:solidFill>
                <a:latin typeface="Roboto Regular"/>
              </a:rPr>
              <a:t>// declare and initialise a 5-element integer array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14450" y="1626870"/>
            <a:ext cx="137159" cy="927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569CD6"/>
                </a:solidFill>
                <a:latin typeface="Roboto Regular"/>
              </a:rPr>
              <a:t>int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62100" y="1624330"/>
            <a:ext cx="1722120" cy="1257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D4D4D4"/>
                </a:solidFill>
                <a:latin typeface="Roboto Regular"/>
              </a:rPr>
              <a:t>numbers[5] = {10, 20, 30, 40, 50};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14450" y="1965960"/>
            <a:ext cx="2103120" cy="121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6A9955"/>
                </a:solidFill>
                <a:latin typeface="Roboto Regular"/>
              </a:rPr>
              <a:t>// display each element using its index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14450" y="2131060"/>
            <a:ext cx="499110" cy="1308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569CD6"/>
                </a:solidFill>
                <a:latin typeface="Roboto Regular"/>
              </a:rPr>
              <a:t>for</a:t>
            </a:r>
            <a:r>
              <a:rPr spc="-100" sz="1000">
                <a:solidFill>
                  <a:srgbClr val="D4D4D4"/>
                </a:solidFill>
                <a:latin typeface="Roboto Regular"/>
              </a:rPr>
              <a:t> (</a:t>
            </a:r>
            <a:r>
              <a:rPr spc="-100" sz="1000">
                <a:solidFill>
                  <a:srgbClr val="569CD6"/>
                </a:solidFill>
                <a:latin typeface="Roboto Regular"/>
              </a:rPr>
              <a:t> int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4050" y="2131060"/>
            <a:ext cx="833119" cy="1308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D4D4D4"/>
                </a:solidFill>
                <a:latin typeface="Roboto Regular"/>
              </a:rPr>
              <a:t>i = 0; i &lt; 5; i++) {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2311400"/>
            <a:ext cx="454660" cy="927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569CD6"/>
                </a:solidFill>
                <a:latin typeface="Roboto Regular"/>
              </a:rPr>
              <a:t>cout</a:t>
            </a:r>
            <a:r>
              <a:rPr spc="-100" sz="1000">
                <a:solidFill>
                  <a:srgbClr val="D4D4D4"/>
                </a:solidFill>
                <a:latin typeface="Roboto Regular"/>
              </a:rPr>
              <a:t> &lt;&lt;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81860" y="2301240"/>
            <a:ext cx="582929" cy="121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CE9178"/>
                </a:solidFill>
                <a:latin typeface="Roboto Regular"/>
              </a:rPr>
              <a:t>"numbers["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33700" y="2312670"/>
            <a:ext cx="350520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D4D4D4"/>
                </a:solidFill>
                <a:latin typeface="Roboto Regular"/>
              </a:rPr>
              <a:t>&lt;&lt; i &lt;&lt;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2350" y="2301240"/>
            <a:ext cx="231139" cy="121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CE9178"/>
                </a:solidFill>
                <a:latin typeface="Roboto Regular"/>
              </a:rPr>
              <a:t>"] = "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19550" y="2301240"/>
            <a:ext cx="883920" cy="121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D4D4D4"/>
                </a:solidFill>
                <a:latin typeface="Roboto Regular"/>
              </a:rPr>
              <a:t>&lt;&lt; numbers[i] &lt;&lt;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95900" y="2298700"/>
            <a:ext cx="312420" cy="12318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569CD6"/>
                </a:solidFill>
                <a:latin typeface="Roboto Regular"/>
              </a:rPr>
              <a:t>endl</a:t>
            </a:r>
            <a:r>
              <a:rPr spc="-100" sz="1000">
                <a:solidFill>
                  <a:srgbClr val="D4D4D4"/>
                </a:solidFill>
                <a:latin typeface="Roboto Regular"/>
              </a:rPr>
              <a:t> ;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2466340"/>
            <a:ext cx="43180" cy="121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D4D4D4"/>
                </a:solidFill>
                <a:latin typeface="Roboto Regular"/>
              </a:rPr>
              <a:t>}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14450" y="2654300"/>
            <a:ext cx="316230" cy="838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569CD6"/>
                </a:solidFill>
                <a:latin typeface="Roboto Regular"/>
              </a:rPr>
              <a:t>return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80539" y="2645410"/>
            <a:ext cx="93980" cy="1092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D4D4D4"/>
                </a:solidFill>
                <a:latin typeface="Roboto Regular"/>
              </a:rPr>
              <a:t>0;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8700" y="2809240"/>
            <a:ext cx="43180" cy="121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D4D4D4"/>
                </a:solidFill>
                <a:latin typeface="Roboto Regular"/>
              </a:rPr>
              <a:t>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3392170"/>
            <a:ext cx="3173729" cy="1587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300">
                <a:solidFill>
                  <a:srgbClr val="DD6B20"/>
                </a:solidFill>
                <a:latin typeface="Roboto Regular"/>
              </a:rPr>
              <a:t>Task 2: Accessing Character Array Elements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200" y="3737610"/>
            <a:ext cx="5669280" cy="137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Roboto Regular"/>
              </a:rPr>
              <a:t>A character array named message was declared and initialized with the word 'POWER'. A for loop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3909060"/>
            <a:ext cx="4391660" cy="137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Roboto Regular"/>
              </a:rPr>
              <a:t>was used to access each character of the array one by one and print it on a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200" y="4083050"/>
            <a:ext cx="5739130" cy="1346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Roboto Regular"/>
              </a:rPr>
              <a:t>separate line, demonstrating individual element access in a character array. The implementation is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4251960"/>
            <a:ext cx="633730" cy="107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Roboto Regular"/>
              </a:rPr>
              <a:t>as follows: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8700" y="4652010"/>
            <a:ext cx="467359" cy="965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569CD6"/>
                </a:solidFill>
                <a:latin typeface="Roboto Regular"/>
              </a:rPr>
              <a:t>#include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76400" y="4652010"/>
            <a:ext cx="890269" cy="965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D4D4D4"/>
                </a:solidFill>
                <a:latin typeface="Roboto Regular"/>
              </a:rPr>
              <a:t>"str"&gt;&lt;iostream&gt;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8700" y="4817110"/>
            <a:ext cx="299719" cy="1181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569CD6"/>
                </a:solidFill>
                <a:latin typeface="Roboto Regular"/>
              </a:rPr>
              <a:t>using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57960" y="4823460"/>
            <a:ext cx="883920" cy="1130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569CD6"/>
                </a:solidFill>
                <a:latin typeface="Roboto Regular"/>
              </a:rPr>
              <a:t>namespace</a:t>
            </a:r>
            <a:r>
              <a:rPr spc="-100" sz="1000">
                <a:solidFill>
                  <a:srgbClr val="D4D4D4"/>
                </a:solidFill>
                <a:latin typeface="Roboto Regular"/>
              </a:rPr>
              <a:t> std;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8700" y="5149850"/>
            <a:ext cx="661669" cy="130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569CD6"/>
                </a:solidFill>
                <a:latin typeface="Roboto Regular"/>
              </a:rPr>
              <a:t>int</a:t>
            </a:r>
            <a:r>
              <a:rPr spc="-100" sz="1000">
                <a:solidFill>
                  <a:srgbClr val="D4D4D4"/>
                </a:solidFill>
                <a:latin typeface="Roboto Regular"/>
              </a:rPr>
              <a:t> main() {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14450" y="5320030"/>
            <a:ext cx="974089" cy="1295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569CD6"/>
                </a:solidFill>
                <a:latin typeface="Roboto Regular"/>
              </a:rPr>
              <a:t>char</a:t>
            </a:r>
            <a:r>
              <a:rPr spc="-100" sz="1000">
                <a:solidFill>
                  <a:srgbClr val="D4D4D4"/>
                </a:solidFill>
                <a:latin typeface="Roboto Regular"/>
              </a:rPr>
              <a:t> message[] =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42540" y="5327650"/>
            <a:ext cx="532130" cy="1130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CE9178"/>
                </a:solidFill>
                <a:latin typeface="Roboto Regular"/>
              </a:rPr>
              <a:t>"POWER"</a:t>
            </a:r>
            <a:r>
              <a:rPr spc="-100" sz="1000">
                <a:solidFill>
                  <a:srgbClr val="D4D4D4"/>
                </a:solidFill>
                <a:latin typeface="Roboto Regular"/>
              </a:rPr>
              <a:t>;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00400" y="5327650"/>
            <a:ext cx="1762760" cy="12318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6A9955"/>
                </a:solidFill>
                <a:latin typeface="Roboto Regular"/>
              </a:rPr>
              <a:t>// character array storing a word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14450" y="5494020"/>
            <a:ext cx="137159" cy="927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569CD6"/>
                </a:solidFill>
                <a:latin typeface="Roboto Regular"/>
              </a:rPr>
              <a:t>int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562100" y="5499100"/>
            <a:ext cx="379730" cy="1130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D4D4D4"/>
                </a:solidFill>
                <a:latin typeface="Roboto Regular"/>
              </a:rPr>
              <a:t>len = 5;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258060" y="5497830"/>
            <a:ext cx="1860550" cy="1244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6A9955"/>
                </a:solidFill>
                <a:latin typeface="Roboto Regular"/>
              </a:rPr>
              <a:t>// number of characters to display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14450" y="5833110"/>
            <a:ext cx="2040889" cy="120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6A9955"/>
                </a:solidFill>
                <a:latin typeface="Roboto Regular"/>
              </a:rPr>
              <a:t>// print each character on its own line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14450" y="5998210"/>
            <a:ext cx="499110" cy="130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569CD6"/>
                </a:solidFill>
                <a:latin typeface="Roboto Regular"/>
              </a:rPr>
              <a:t>for</a:t>
            </a:r>
            <a:r>
              <a:rPr spc="-100" sz="1000">
                <a:solidFill>
                  <a:srgbClr val="D4D4D4"/>
                </a:solidFill>
                <a:latin typeface="Roboto Regular"/>
              </a:rPr>
              <a:t> (</a:t>
            </a:r>
            <a:r>
              <a:rPr spc="-100" sz="1000">
                <a:solidFill>
                  <a:srgbClr val="569CD6"/>
                </a:solidFill>
                <a:latin typeface="Roboto Regular"/>
              </a:rPr>
              <a:t> int 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24050" y="5998210"/>
            <a:ext cx="928369" cy="130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D4D4D4"/>
                </a:solidFill>
                <a:latin typeface="Roboto Regular"/>
              </a:rPr>
              <a:t>i = 0; i &lt; len; i++) { 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600200" y="6168390"/>
            <a:ext cx="1235710" cy="1295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569CD6"/>
                </a:solidFill>
                <a:latin typeface="Roboto Regular"/>
              </a:rPr>
              <a:t>cout</a:t>
            </a:r>
            <a:r>
              <a:rPr spc="-100" sz="1000">
                <a:solidFill>
                  <a:srgbClr val="D4D4D4"/>
                </a:solidFill>
                <a:latin typeface="Roboto Regular"/>
              </a:rPr>
              <a:t> &lt;&lt; message[i] &lt;&lt; 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00400" y="6165850"/>
            <a:ext cx="312420" cy="12318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569CD6"/>
                </a:solidFill>
                <a:latin typeface="Roboto Regular"/>
              </a:rPr>
              <a:t>endl</a:t>
            </a:r>
            <a:r>
              <a:rPr spc="-100" sz="1000">
                <a:solidFill>
                  <a:srgbClr val="D4D4D4"/>
                </a:solidFill>
                <a:latin typeface="Roboto Regular"/>
              </a:rPr>
              <a:t> ;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43000" y="6333490"/>
            <a:ext cx="43180" cy="121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D4D4D4"/>
                </a:solidFill>
                <a:latin typeface="Roboto Regular"/>
              </a:rPr>
              <a:t>}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314450" y="6521450"/>
            <a:ext cx="316230" cy="838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569CD6"/>
                </a:solidFill>
                <a:latin typeface="Roboto Regular"/>
              </a:rPr>
              <a:t>return 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780539" y="6512559"/>
            <a:ext cx="93980" cy="1092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D4D4D4"/>
                </a:solidFill>
                <a:latin typeface="Roboto Regular"/>
              </a:rPr>
              <a:t>0;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28700" y="6676390"/>
            <a:ext cx="43180" cy="121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D4D4D4"/>
                </a:solidFill>
                <a:latin typeface="Roboto Regular"/>
              </a:rPr>
              <a:t>}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8200" y="7259320"/>
            <a:ext cx="1642110" cy="1587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300">
                <a:solidFill>
                  <a:srgbClr val="DD6B20"/>
                </a:solidFill>
                <a:latin typeface="Roboto Regular"/>
              </a:rPr>
              <a:t>Task 3: Copying Arrays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8200" y="7604759"/>
            <a:ext cx="5570220" cy="137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Roboto Regular"/>
              </a:rPr>
              <a:t>Two integer arrays, source and destination, each of size 5, were declared. The source array was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8200" y="7753350"/>
            <a:ext cx="5048250" cy="1638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Roboto Regular"/>
              </a:rPr>
              <a:t>initialized with five values. A for loop was used to copy each element of source into the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8200" y="7947659"/>
            <a:ext cx="5812790" cy="137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Roboto Regular"/>
              </a:rPr>
              <a:t>corresponding position in destination. Both arrays were then displayed to verify the copy operation. 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8200" y="8119109"/>
            <a:ext cx="1958339" cy="1346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Roboto Regular"/>
              </a:rPr>
              <a:t>The implementation is as follows:</a:t>
            </a:r>
          </a:p>
        </p:txBody>
      </p:sp>
      <p:graphicFrame>
        <p:nvGraphicFramePr>
          <p:cNvPr id="60" name="Table 59"/>
          <p:cNvGraphicFramePr>
            <a:graphicFrameLocks noGrp="1"/>
          </p:cNvGraphicFramePr>
          <p:nvPr/>
        </p:nvGraphicFramePr>
        <p:xfrm>
          <a:off x="552450" y="10025380"/>
          <a:ext cx="280669" cy="2679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0669"/>
              </a:tblGrid>
              <a:tr h="267970">
                <a:tc>
                  <a:txBody>
                    <a:bodyPr/>
                    <a:lstStyle/>
                    <a:p>
                      <a:pPr>
                        <a:lnSpc>
                          <a:spcPts val="2190"/>
                        </a:lnSpc>
                      </a:p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2539" cap="flat" cmpd="sng" algn="ctr">
                      <a:solidFill>
                        <a:srgbClr val="888888">
                          <a:alpha val="100000"/>
                        </a:srgbClr>
                      </a:solidFill>
                    </a:lnR>
                    <a:lnT w="2539" cap="flat" cmpd="sng" algn="ctr">
                      <a:solidFill>
                        <a:srgbClr val="888888">
                          <a:alpha val="10000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1" name="Table 60"/>
          <p:cNvGraphicFramePr>
            <a:graphicFrameLocks noGrp="1"/>
          </p:cNvGraphicFramePr>
          <p:nvPr/>
        </p:nvGraphicFramePr>
        <p:xfrm>
          <a:off x="6767830" y="10025380"/>
          <a:ext cx="280670" cy="2679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0670"/>
              </a:tblGrid>
              <a:tr h="267970">
                <a:tc>
                  <a:txBody>
                    <a:bodyPr/>
                    <a:lstStyle/>
                    <a:p>
                      <a:pPr>
                        <a:lnSpc>
                          <a:spcPts val="2190"/>
                        </a:lnSpc>
                      </a:pPr>
                    </a:p>
                  </a:txBody>
                  <a:tcPr marL="0" marR="0" marT="0" marB="0" vert="horz">
                    <a:lnL w="2222" cap="flat" cmpd="sng" algn="ctr">
                      <a:solidFill>
                        <a:srgbClr val="888888">
                          <a:alpha val="10000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2539" cap="flat" cmpd="sng" algn="ctr">
                      <a:solidFill>
                        <a:srgbClr val="888888">
                          <a:alpha val="10000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3959" cy="106870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1159" y="0"/>
            <a:ext cx="5080" cy="106870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400" y="406400"/>
            <a:ext cx="6223000" cy="43497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400" y="5626100"/>
            <a:ext cx="6223000" cy="417830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767830" y="247650"/>
          <a:ext cx="280670" cy="2806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0670"/>
              </a:tblGrid>
              <a:tr h="280670">
                <a:tc>
                  <a:txBody>
                    <a:bodyPr/>
                    <a:lstStyle/>
                    <a:p>
                      <a:pPr>
                        <a:lnSpc>
                          <a:spcPts val="2190"/>
                        </a:lnSpc>
                      </a:pPr>
                    </a:p>
                  </a:txBody>
                  <a:tcPr marL="0" marR="0" marT="0" marB="0" vert="horz">
                    <a:lnL w="2222" cap="flat" cmpd="sng" algn="ctr">
                      <a:solidFill>
                        <a:srgbClr val="888888">
                          <a:alpha val="10000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2539" cap="flat" cmpd="sng" algn="ctr">
                      <a:solidFill>
                        <a:srgbClr val="888888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270" y="1270"/>
          <a:ext cx="6742430" cy="106845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42430"/>
              </a:tblGrid>
              <a:tr h="10684510">
                <a:tc>
                  <a:txBody>
                    <a:bodyPr/>
                    <a:lstStyle/>
                    <a:p/>
                    <a:p>
                      <a:pPr marL="1026160" algn="l">
                        <a:lnSpc>
                          <a:spcPts val="760"/>
                        </a:lnSpc>
                        <a:spcBef>
                          <a:spcPts val="2020"/>
                        </a:spcBef>
                      </a:pPr>
                    </a:p>
                    <a:p>
                      <a:pPr marL="1026160" algn="l">
                        <a:lnSpc>
                          <a:spcPts val="940"/>
                        </a:lnSpc>
                        <a:spcBef>
                          <a:spcPts val="530"/>
                        </a:spcBef>
                      </a:pPr>
                    </a:p>
                    <a:p>
                      <a:pPr marL="1026160" algn="l">
                        <a:lnSpc>
                          <a:spcPts val="1030"/>
                        </a:lnSpc>
                        <a:spcBef>
                          <a:spcPts val="1680"/>
                        </a:spcBef>
                      </a:pPr>
                    </a:p>
                    <a:p>
                      <a:pPr marL="1311910" algn="l">
                        <a:lnSpc>
                          <a:spcPts val="1030"/>
                        </a:lnSpc>
                        <a:spcBef>
                          <a:spcPts val="10"/>
                        </a:spcBef>
                      </a:pPr>
                    </a:p>
                    <a:p>
                      <a:pPr marL="1311910" algn="l">
                        <a:lnSpc>
                          <a:spcPts val="1019"/>
                        </a:lnSpc>
                        <a:spcBef>
                          <a:spcPts val="30"/>
                        </a:spcBef>
                      </a:pPr>
                    </a:p>
                    <a:p>
                      <a:pPr marL="1311910" algn="l">
                        <a:lnSpc>
                          <a:spcPts val="960"/>
                        </a:lnSpc>
                        <a:spcBef>
                          <a:spcPts val="1670"/>
                        </a:spcBef>
                      </a:pPr>
                    </a:p>
                    <a:p>
                      <a:pPr marL="1311910" algn="l">
                        <a:lnSpc>
                          <a:spcPts val="1030"/>
                        </a:lnSpc>
                        <a:spcBef>
                          <a:spcPts val="340"/>
                        </a:spcBef>
                      </a:pPr>
                    </a:p>
                    <a:p>
                      <a:pPr marL="1254760" algn="l">
                        <a:lnSpc>
                          <a:spcPts val="960"/>
                        </a:lnSpc>
                        <a:spcBef>
                          <a:spcPts val="310"/>
                        </a:spcBef>
                      </a:pPr>
                    </a:p>
                    <a:p>
                      <a:pPr marL="1140460" algn="l">
                        <a:lnSpc>
                          <a:spcPts val="960"/>
                        </a:lnSpc>
                        <a:spcBef>
                          <a:spcPts val="340"/>
                        </a:spcBef>
                      </a:pPr>
                    </a:p>
                    <a:p>
                      <a:pPr marL="1311910" algn="l">
                        <a:lnSpc>
                          <a:spcPts val="890"/>
                        </a:lnSpc>
                        <a:spcBef>
                          <a:spcPts val="1540"/>
                        </a:spcBef>
                      </a:pPr>
                    </a:p>
                    <a:p>
                      <a:pPr marL="1311910" algn="l">
                        <a:lnSpc>
                          <a:spcPts val="1060"/>
                        </a:lnSpc>
                        <a:spcBef>
                          <a:spcPts val="380"/>
                        </a:spcBef>
                      </a:pPr>
                    </a:p>
                    <a:p>
                      <a:pPr marL="1311910" algn="l">
                        <a:lnSpc>
                          <a:spcPts val="890"/>
                        </a:lnSpc>
                        <a:spcBef>
                          <a:spcPts val="80"/>
                        </a:spcBef>
                      </a:pPr>
                    </a:p>
                    <a:p>
                      <a:pPr marL="1311910" algn="l">
                        <a:lnSpc>
                          <a:spcPts val="890"/>
                        </a:lnSpc>
                        <a:spcBef>
                          <a:spcPts val="1650"/>
                        </a:spcBef>
                      </a:pPr>
                    </a:p>
                    <a:p>
                      <a:pPr marL="1311910" algn="l">
                        <a:lnSpc>
                          <a:spcPts val="1040"/>
                        </a:lnSpc>
                        <a:spcBef>
                          <a:spcPts val="310"/>
                        </a:spcBef>
                      </a:pPr>
                    </a:p>
                    <a:p>
                      <a:pPr marL="1311910" algn="l">
                        <a:lnSpc>
                          <a:spcPts val="890"/>
                        </a:lnSpc>
                        <a:spcBef>
                          <a:spcPts val="140"/>
                        </a:spcBef>
                      </a:pPr>
                    </a:p>
                    <a:p>
                      <a:pPr marL="1311910" algn="l">
                        <a:lnSpc>
                          <a:spcPts val="869"/>
                        </a:lnSpc>
                        <a:spcBef>
                          <a:spcPts val="1630"/>
                        </a:spcBef>
                      </a:pPr>
                    </a:p>
                    <a:p>
                      <a:pPr marL="1026160" algn="l">
                        <a:lnSpc>
                          <a:spcPts val="960"/>
                        </a:lnSpc>
                        <a:spcBef>
                          <a:spcPts val="360"/>
                        </a:spcBef>
                      </a:pPr>
                    </a:p>
                    <a:p>
                      <a:pPr marL="835660" algn="l">
                        <a:lnSpc>
                          <a:spcPts val="1250"/>
                        </a:lnSpc>
                        <a:spcBef>
                          <a:spcPts val="3700"/>
                        </a:spcBef>
                      </a:pPr>
                    </a:p>
                    <a:p>
                      <a:pPr marL="835660" algn="l">
                        <a:lnSpc>
                          <a:spcPts val="1050"/>
                        </a:lnSpc>
                        <a:spcBef>
                          <a:spcPts val="1490"/>
                        </a:spcBef>
                      </a:pPr>
                    </a:p>
                    <a:p>
                      <a:pPr marL="835660" algn="l">
                        <a:lnSpc>
                          <a:spcPts val="1080"/>
                        </a:lnSpc>
                        <a:spcBef>
                          <a:spcPts val="280"/>
                        </a:spcBef>
                      </a:pPr>
                    </a:p>
                    <a:p>
                      <a:pPr marL="835660" algn="l">
                        <a:lnSpc>
                          <a:spcPts val="1080"/>
                        </a:lnSpc>
                        <a:spcBef>
                          <a:spcPts val="270"/>
                        </a:spcBef>
                      </a:pPr>
                    </a:p>
                    <a:p>
                      <a:pPr marL="1026160" algn="l">
                        <a:lnSpc>
                          <a:spcPts val="760"/>
                        </a:lnSpc>
                        <a:spcBef>
                          <a:spcPts val="2070"/>
                        </a:spcBef>
                      </a:pPr>
                    </a:p>
                    <a:p>
                      <a:pPr marL="1026160" algn="l">
                        <a:lnSpc>
                          <a:spcPts val="940"/>
                        </a:lnSpc>
                        <a:spcBef>
                          <a:spcPts val="530"/>
                        </a:spcBef>
                      </a:pPr>
                    </a:p>
                    <a:p>
                      <a:pPr marL="1026160" algn="l">
                        <a:lnSpc>
                          <a:spcPts val="1030"/>
                        </a:lnSpc>
                        <a:spcBef>
                          <a:spcPts val="1680"/>
                        </a:spcBef>
                      </a:pPr>
                    </a:p>
                    <a:p>
                      <a:pPr marL="1311910" algn="l">
                        <a:lnSpc>
                          <a:spcPts val="969"/>
                        </a:lnSpc>
                        <a:spcBef>
                          <a:spcPts val="70"/>
                        </a:spcBef>
                      </a:pPr>
                    </a:p>
                    <a:p>
                      <a:pPr marL="1311910" algn="l">
                        <a:lnSpc>
                          <a:spcPts val="930"/>
                        </a:lnSpc>
                        <a:spcBef>
                          <a:spcPts val="200"/>
                        </a:spcBef>
                      </a:pPr>
                    </a:p>
                    <a:p>
                      <a:pPr marL="1311910" algn="l">
                        <a:lnSpc>
                          <a:spcPts val="969"/>
                        </a:lnSpc>
                        <a:spcBef>
                          <a:spcPts val="1730"/>
                        </a:spcBef>
                      </a:pPr>
                    </a:p>
                    <a:p>
                      <a:pPr marL="1311910" algn="l">
                        <a:lnSpc>
                          <a:spcPts val="1030"/>
                        </a:lnSpc>
                        <a:spcBef>
                          <a:spcPts val="340"/>
                        </a:spcBef>
                      </a:pPr>
                    </a:p>
                    <a:p>
                      <a:pPr marL="1597660" algn="l">
                        <a:lnSpc>
                          <a:spcPts val="890"/>
                        </a:lnSpc>
                        <a:spcBef>
                          <a:spcPts val="210"/>
                        </a:spcBef>
                      </a:pPr>
                    </a:p>
                    <a:p>
                      <a:pPr marL="1597660" algn="l">
                        <a:lnSpc>
                          <a:spcPts val="969"/>
                        </a:lnSpc>
                        <a:spcBef>
                          <a:spcPts val="320"/>
                        </a:spcBef>
                      </a:pPr>
                    </a:p>
                    <a:p>
                      <a:pPr marL="1140460" algn="l">
                        <a:lnSpc>
                          <a:spcPts val="960"/>
                        </a:lnSpc>
                        <a:spcBef>
                          <a:spcPts val="409"/>
                        </a:spcBef>
                      </a:pPr>
                    </a:p>
                    <a:p>
                      <a:pPr marL="1311910" algn="l">
                        <a:lnSpc>
                          <a:spcPts val="819"/>
                        </a:lnSpc>
                        <a:spcBef>
                          <a:spcPts val="1760"/>
                        </a:spcBef>
                      </a:pPr>
                    </a:p>
                    <a:p>
                      <a:pPr marL="1311910" algn="l">
                        <a:lnSpc>
                          <a:spcPts val="1030"/>
                        </a:lnSpc>
                        <a:spcBef>
                          <a:spcPts val="420"/>
                        </a:spcBef>
                      </a:pPr>
                    </a:p>
                    <a:p>
                      <a:pPr marL="1254760" algn="l">
                        <a:lnSpc>
                          <a:spcPts val="960"/>
                        </a:lnSpc>
                        <a:spcBef>
                          <a:spcPts val="310"/>
                        </a:spcBef>
                      </a:pPr>
                    </a:p>
                    <a:p>
                      <a:pPr marL="1140460" algn="l">
                        <a:lnSpc>
                          <a:spcPts val="960"/>
                        </a:lnSpc>
                        <a:spcBef>
                          <a:spcPts val="420"/>
                        </a:spcBef>
                      </a:pPr>
                    </a:p>
                    <a:p>
                      <a:pPr marL="1311910" algn="l">
                        <a:lnSpc>
                          <a:spcPts val="890"/>
                        </a:lnSpc>
                        <a:spcBef>
                          <a:spcPts val="1460"/>
                        </a:spcBef>
                      </a:pPr>
                    </a:p>
                    <a:p>
                      <a:pPr marL="1311910" algn="l">
                        <a:lnSpc>
                          <a:spcPts val="860"/>
                        </a:lnSpc>
                        <a:spcBef>
                          <a:spcPts val="290"/>
                        </a:spcBef>
                      </a:pPr>
                    </a:p>
                    <a:p>
                      <a:pPr marL="1026160" algn="l">
                        <a:lnSpc>
                          <a:spcPts val="960"/>
                        </a:lnSpc>
                        <a:spcBef>
                          <a:spcPts val="430"/>
                        </a:spcBef>
                        <a:spcAft>
                          <a:spcPts val="4090"/>
                        </a:spcAft>
                      </a:pPr>
                    </a:p>
                  </a:txBody>
                  <a:tcPr marL="0" marR="0" marT="0" marB="0" vert="horz">
                    <a:lnL w="635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635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635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52450" y="247650"/>
          <a:ext cx="280669" cy="2806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0669"/>
              </a:tblGrid>
              <a:tr h="280670">
                <a:tc>
                  <a:txBody>
                    <a:bodyPr/>
                    <a:lstStyle/>
                    <a:p>
                      <a:pPr>
                        <a:lnSpc>
                          <a:spcPts val="2190"/>
                        </a:lnSpc>
                      </a:p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2539" cap="flat" cmpd="sng" algn="ctr">
                      <a:solidFill>
                        <a:srgbClr val="888888">
                          <a:alpha val="10000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2539" cap="flat" cmpd="sng" algn="ctr">
                      <a:solidFill>
                        <a:srgbClr val="888888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028700" y="784860"/>
            <a:ext cx="467359" cy="965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569CD6"/>
                </a:solidFill>
                <a:latin typeface="Roboto Regular"/>
              </a:rPr>
              <a:t>#include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76400" y="784860"/>
            <a:ext cx="890269" cy="965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D4D4D4"/>
                </a:solidFill>
                <a:latin typeface="Roboto Regular"/>
              </a:rPr>
              <a:t>"str"&gt;&lt;iostream&gt;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" y="949960"/>
            <a:ext cx="299719" cy="1181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569CD6"/>
                </a:solidFill>
                <a:latin typeface="Roboto Regular"/>
              </a:rPr>
              <a:t>using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57960" y="956310"/>
            <a:ext cx="883920" cy="1130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569CD6"/>
                </a:solidFill>
                <a:latin typeface="Roboto Regular"/>
              </a:rPr>
              <a:t>namespace</a:t>
            </a:r>
            <a:r>
              <a:rPr spc="-100" sz="1000">
                <a:solidFill>
                  <a:srgbClr val="D4D4D4"/>
                </a:solidFill>
                <a:latin typeface="Roboto Regular"/>
              </a:rPr>
              <a:t> std;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" y="1282700"/>
            <a:ext cx="661669" cy="1308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569CD6"/>
                </a:solidFill>
                <a:latin typeface="Roboto Regular"/>
              </a:rPr>
              <a:t>int</a:t>
            </a:r>
            <a:r>
              <a:rPr spc="-100" sz="1000">
                <a:solidFill>
                  <a:srgbClr val="D4D4D4"/>
                </a:solidFill>
                <a:latin typeface="Roboto Regular"/>
              </a:rPr>
              <a:t> main() {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14450" y="1464310"/>
            <a:ext cx="137159" cy="927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569CD6"/>
                </a:solidFill>
                <a:latin typeface="Roboto Regular"/>
              </a:rPr>
              <a:t>int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62100" y="1452880"/>
            <a:ext cx="1550670" cy="1257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D4D4D4"/>
                </a:solidFill>
                <a:latin typeface="Roboto Regular"/>
              </a:rPr>
              <a:t>source[5] = {5, 10, 15, 20, 25};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90340" y="1460500"/>
            <a:ext cx="909320" cy="1231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6A9955"/>
                </a:solidFill>
                <a:latin typeface="Roboto Regular"/>
              </a:rPr>
              <a:t>// values to copy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14450" y="1626870"/>
            <a:ext cx="137159" cy="927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569CD6"/>
                </a:solidFill>
                <a:latin typeface="Roboto Regular"/>
              </a:rPr>
              <a:t>int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62100" y="1624330"/>
            <a:ext cx="750569" cy="12318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D4D4D4"/>
                </a:solidFill>
                <a:latin typeface="Roboto Regular"/>
              </a:rPr>
              <a:t>destination[5];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62250" y="1631950"/>
            <a:ext cx="1362710" cy="121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6A9955"/>
                </a:solidFill>
                <a:latin typeface="Roboto Regular"/>
              </a:rPr>
              <a:t>// receives copied values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14450" y="1965960"/>
            <a:ext cx="1784350" cy="121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6A9955"/>
                </a:solidFill>
                <a:latin typeface="Roboto Regular"/>
              </a:rPr>
              <a:t>// copy each element one by 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14450" y="2131060"/>
            <a:ext cx="499110" cy="1308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569CD6"/>
                </a:solidFill>
                <a:latin typeface="Roboto Regular"/>
              </a:rPr>
              <a:t>for</a:t>
            </a:r>
            <a:r>
              <a:rPr spc="-100" sz="1000">
                <a:solidFill>
                  <a:srgbClr val="D4D4D4"/>
                </a:solidFill>
                <a:latin typeface="Roboto Regular"/>
              </a:rPr>
              <a:t> (</a:t>
            </a:r>
            <a:r>
              <a:rPr spc="-100" sz="1000">
                <a:solidFill>
                  <a:srgbClr val="569CD6"/>
                </a:solidFill>
                <a:latin typeface="Roboto Regular"/>
              </a:rPr>
              <a:t> int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4050" y="2131060"/>
            <a:ext cx="833119" cy="1308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D4D4D4"/>
                </a:solidFill>
                <a:latin typeface="Roboto Regular"/>
              </a:rPr>
              <a:t>i = 0; i &lt; 5; i++) {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57300" y="2301240"/>
            <a:ext cx="1294130" cy="121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D4D4D4"/>
                </a:solidFill>
                <a:latin typeface="Roboto Regular"/>
              </a:rPr>
              <a:t>destination[i] = source[i];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2466340"/>
            <a:ext cx="43180" cy="121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D4D4D4"/>
                </a:solidFill>
                <a:latin typeface="Roboto Regular"/>
              </a:rPr>
              <a:t>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14450" y="2825750"/>
            <a:ext cx="445769" cy="838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569CD6"/>
                </a:solidFill>
                <a:latin typeface="Roboto Regular"/>
              </a:rPr>
              <a:t>cout</a:t>
            </a:r>
            <a:r>
              <a:rPr spc="-100" sz="1000">
                <a:solidFill>
                  <a:srgbClr val="D4D4D4"/>
                </a:solidFill>
                <a:latin typeface="Roboto Regular"/>
              </a:rPr>
              <a:t> &lt;&lt;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94839" y="2813050"/>
            <a:ext cx="516890" cy="965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CE9178"/>
                </a:solidFill>
                <a:latin typeface="Roboto Regular"/>
              </a:rPr>
              <a:t>"Source: "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18740" y="2840990"/>
            <a:ext cx="27940" cy="850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D4D4D4"/>
                </a:solidFill>
                <a:latin typeface="Roboto Regular"/>
              </a:rPr>
              <a:t>;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14450" y="2974340"/>
            <a:ext cx="499110" cy="1346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569CD6"/>
                </a:solidFill>
                <a:latin typeface="Roboto Regular"/>
              </a:rPr>
              <a:t>for</a:t>
            </a:r>
            <a:r>
              <a:rPr spc="-100" sz="1000">
                <a:solidFill>
                  <a:srgbClr val="D4D4D4"/>
                </a:solidFill>
                <a:latin typeface="Roboto Regular"/>
              </a:rPr>
              <a:t> (</a:t>
            </a:r>
            <a:r>
              <a:rPr spc="-100" sz="1000">
                <a:solidFill>
                  <a:srgbClr val="569CD6"/>
                </a:solidFill>
                <a:latin typeface="Roboto Regular"/>
              </a:rPr>
              <a:t> int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4050" y="2978150"/>
            <a:ext cx="758189" cy="130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D4D4D4"/>
                </a:solidFill>
                <a:latin typeface="Roboto Regular"/>
              </a:rPr>
              <a:t>i = 0; i &lt; 5; i++)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42640" y="2976880"/>
            <a:ext cx="1093470" cy="12318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569CD6"/>
                </a:solidFill>
                <a:latin typeface="Roboto Regular"/>
              </a:rPr>
              <a:t>cout</a:t>
            </a:r>
            <a:r>
              <a:rPr spc="-100" sz="1000">
                <a:solidFill>
                  <a:srgbClr val="D4D4D4"/>
                </a:solidFill>
                <a:latin typeface="Roboto Regular"/>
              </a:rPr>
              <a:t> &lt;&lt; source[i] &lt;&lt;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57750" y="2984500"/>
            <a:ext cx="107950" cy="95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CE9178"/>
                </a:solidFill>
                <a:latin typeface="Roboto Regular"/>
              </a:rPr>
              <a:t>" "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77460" y="3012440"/>
            <a:ext cx="26669" cy="850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D4D4D4"/>
                </a:solidFill>
                <a:latin typeface="Roboto Regular"/>
              </a:rPr>
              <a:t>;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14450" y="3158490"/>
            <a:ext cx="445769" cy="850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569CD6"/>
                </a:solidFill>
                <a:latin typeface="Roboto Regular"/>
              </a:rPr>
              <a:t>cout</a:t>
            </a:r>
            <a:r>
              <a:rPr spc="-100" sz="1000">
                <a:solidFill>
                  <a:srgbClr val="D4D4D4"/>
                </a:solidFill>
                <a:latin typeface="Roboto Regular"/>
              </a:rPr>
              <a:t> &lt;&lt;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94839" y="3147060"/>
            <a:ext cx="313690" cy="1130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569CD6"/>
                </a:solidFill>
                <a:latin typeface="Roboto Regular"/>
              </a:rPr>
              <a:t>endl</a:t>
            </a:r>
            <a:r>
              <a:rPr spc="-100" sz="1000">
                <a:solidFill>
                  <a:srgbClr val="D4D4D4"/>
                </a:solidFill>
                <a:latin typeface="Roboto Regular"/>
              </a:rPr>
              <a:t> ;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14450" y="3492500"/>
            <a:ext cx="445769" cy="927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569CD6"/>
                </a:solidFill>
                <a:latin typeface="Roboto Regular"/>
              </a:rPr>
              <a:t>cout</a:t>
            </a:r>
            <a:r>
              <a:rPr spc="-100" sz="1000">
                <a:solidFill>
                  <a:srgbClr val="D4D4D4"/>
                </a:solidFill>
                <a:latin typeface="Roboto Regular"/>
              </a:rPr>
              <a:t> &lt;&lt;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94839" y="3489960"/>
            <a:ext cx="755650" cy="965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CE9178"/>
                </a:solidFill>
                <a:latin typeface="Roboto Regular"/>
              </a:rPr>
              <a:t>"Destination: "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81960" y="3516629"/>
            <a:ext cx="26669" cy="86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D4D4D4"/>
                </a:solidFill>
                <a:latin typeface="Roboto Regular"/>
              </a:rPr>
              <a:t>;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14450" y="3644900"/>
            <a:ext cx="499110" cy="130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569CD6"/>
                </a:solidFill>
                <a:latin typeface="Roboto Regular"/>
              </a:rPr>
              <a:t>for</a:t>
            </a:r>
            <a:r>
              <a:rPr spc="-100" sz="1000">
                <a:solidFill>
                  <a:srgbClr val="D4D4D4"/>
                </a:solidFill>
                <a:latin typeface="Roboto Regular"/>
              </a:rPr>
              <a:t> (</a:t>
            </a:r>
            <a:r>
              <a:rPr spc="-100" sz="1000">
                <a:solidFill>
                  <a:srgbClr val="569CD6"/>
                </a:solidFill>
                <a:latin typeface="Roboto Regular"/>
              </a:rPr>
              <a:t> int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24050" y="3644900"/>
            <a:ext cx="758189" cy="130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D4D4D4"/>
                </a:solidFill>
                <a:latin typeface="Roboto Regular"/>
              </a:rPr>
              <a:t>i = 0; i &lt; 5; i++)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42640" y="3643629"/>
            <a:ext cx="1322070" cy="1231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569CD6"/>
                </a:solidFill>
                <a:latin typeface="Roboto Regular"/>
              </a:rPr>
              <a:t>cout</a:t>
            </a:r>
            <a:r>
              <a:rPr spc="-100" sz="1000">
                <a:solidFill>
                  <a:srgbClr val="D4D4D4"/>
                </a:solidFill>
                <a:latin typeface="Roboto Regular"/>
              </a:rPr>
              <a:t> &lt;&lt; destination[i] &lt;&lt;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19700" y="3651250"/>
            <a:ext cx="107950" cy="95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CE9178"/>
                </a:solidFill>
                <a:latin typeface="Roboto Regular"/>
              </a:rPr>
              <a:t>" "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38140" y="3679190"/>
            <a:ext cx="27939" cy="8508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D4D4D4"/>
                </a:solidFill>
                <a:latin typeface="Roboto Regular"/>
              </a:rPr>
              <a:t>;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14450" y="3835400"/>
            <a:ext cx="445769" cy="838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569CD6"/>
                </a:solidFill>
                <a:latin typeface="Roboto Regular"/>
              </a:rPr>
              <a:t>cout</a:t>
            </a:r>
            <a:r>
              <a:rPr spc="-100" sz="1000">
                <a:solidFill>
                  <a:srgbClr val="D4D4D4"/>
                </a:solidFill>
                <a:latin typeface="Roboto Regular"/>
              </a:rPr>
              <a:t> &lt;&lt;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894839" y="3822700"/>
            <a:ext cx="313690" cy="1130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569CD6"/>
                </a:solidFill>
                <a:latin typeface="Roboto Regular"/>
              </a:rPr>
              <a:t>endl</a:t>
            </a:r>
            <a:r>
              <a:rPr spc="-100" sz="1000">
                <a:solidFill>
                  <a:srgbClr val="D4D4D4"/>
                </a:solidFill>
                <a:latin typeface="Roboto Regular"/>
              </a:rPr>
              <a:t> ;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14450" y="4168140"/>
            <a:ext cx="316230" cy="8508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569CD6"/>
                </a:solidFill>
                <a:latin typeface="Roboto Regular"/>
              </a:rPr>
              <a:t>return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780539" y="4169410"/>
            <a:ext cx="93980" cy="1092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D4D4D4"/>
                </a:solidFill>
                <a:latin typeface="Roboto Regular"/>
              </a:rPr>
              <a:t>0;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8700" y="4324350"/>
            <a:ext cx="43180" cy="121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D4D4D4"/>
                </a:solidFill>
                <a:latin typeface="Roboto Regular"/>
              </a:rPr>
              <a:t>}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8200" y="4916170"/>
            <a:ext cx="1292860" cy="1587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300">
                <a:solidFill>
                  <a:srgbClr val="DD6B20"/>
                </a:solidFill>
                <a:latin typeface="Roboto Regular"/>
              </a:rPr>
              <a:t>Task 4: Array Sum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8200" y="5264150"/>
            <a:ext cx="569468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Roboto Regular"/>
              </a:rPr>
              <a:t>This programprompts the user to enter 5 integers one at a time. Each value is stored in an integer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8200" y="5433060"/>
            <a:ext cx="5723890" cy="137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Roboto Regular"/>
              </a:rPr>
              <a:t>array. After all values have been entered, a second for loop computes the total sumof all elements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8200" y="5604510"/>
            <a:ext cx="3348990" cy="137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Roboto Regular"/>
              </a:rPr>
              <a:t>and displays the result. The implementation is as follows: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28700" y="6004560"/>
            <a:ext cx="467359" cy="965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569CD6"/>
                </a:solidFill>
                <a:latin typeface="Roboto Regular"/>
              </a:rPr>
              <a:t>#include 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676400" y="6004560"/>
            <a:ext cx="890269" cy="965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D4D4D4"/>
                </a:solidFill>
                <a:latin typeface="Roboto Regular"/>
              </a:rPr>
              <a:t>"str"&gt;&lt;iostream&gt;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28700" y="6169660"/>
            <a:ext cx="299719" cy="1181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569CD6"/>
                </a:solidFill>
                <a:latin typeface="Roboto Regular"/>
              </a:rPr>
              <a:t>using 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457960" y="6176010"/>
            <a:ext cx="883920" cy="1130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569CD6"/>
                </a:solidFill>
                <a:latin typeface="Roboto Regular"/>
              </a:rPr>
              <a:t>namespace</a:t>
            </a:r>
            <a:r>
              <a:rPr spc="-100" sz="1000">
                <a:solidFill>
                  <a:srgbClr val="D4D4D4"/>
                </a:solidFill>
                <a:latin typeface="Roboto Regular"/>
              </a:rPr>
              <a:t> std;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28700" y="6502400"/>
            <a:ext cx="661669" cy="1308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569CD6"/>
                </a:solidFill>
                <a:latin typeface="Roboto Regular"/>
              </a:rPr>
              <a:t>int</a:t>
            </a:r>
            <a:r>
              <a:rPr spc="-100" sz="1000">
                <a:solidFill>
                  <a:srgbClr val="D4D4D4"/>
                </a:solidFill>
                <a:latin typeface="Roboto Regular"/>
              </a:rPr>
              <a:t> main() {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314450" y="6684009"/>
            <a:ext cx="137159" cy="927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569CD6"/>
                </a:solidFill>
                <a:latin typeface="Roboto Regular"/>
              </a:rPr>
              <a:t>int 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562100" y="6672580"/>
            <a:ext cx="455930" cy="1231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D4D4D4"/>
                </a:solidFill>
                <a:latin typeface="Roboto Regular"/>
              </a:rPr>
              <a:t>nums[5];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314450" y="6846570"/>
            <a:ext cx="137159" cy="927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569CD6"/>
                </a:solidFill>
                <a:latin typeface="Roboto Regular"/>
              </a:rPr>
              <a:t>int 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562100" y="6855459"/>
            <a:ext cx="455930" cy="1092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D4D4D4"/>
                </a:solidFill>
                <a:latin typeface="Roboto Regular"/>
              </a:rPr>
              <a:t>sum = 0;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314450" y="7184390"/>
            <a:ext cx="2457450" cy="12318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6A9955"/>
                </a:solidFill>
                <a:latin typeface="Roboto Regular"/>
              </a:rPr>
              <a:t>// read 5 integers into the array from the user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314450" y="7350759"/>
            <a:ext cx="499110" cy="130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569CD6"/>
                </a:solidFill>
                <a:latin typeface="Roboto Regular"/>
              </a:rPr>
              <a:t>for</a:t>
            </a:r>
            <a:r>
              <a:rPr spc="-100" sz="1000">
                <a:solidFill>
                  <a:srgbClr val="D4D4D4"/>
                </a:solidFill>
                <a:latin typeface="Roboto Regular"/>
              </a:rPr>
              <a:t> (</a:t>
            </a:r>
            <a:r>
              <a:rPr spc="-100" sz="1000">
                <a:solidFill>
                  <a:srgbClr val="569CD6"/>
                </a:solidFill>
                <a:latin typeface="Roboto Regular"/>
              </a:rPr>
              <a:t> int 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924050" y="7350759"/>
            <a:ext cx="833119" cy="130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D4D4D4"/>
                </a:solidFill>
                <a:latin typeface="Roboto Regular"/>
              </a:rPr>
              <a:t>i = 0; i &lt; 5; i++) {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600200" y="7531100"/>
            <a:ext cx="454660" cy="927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569CD6"/>
                </a:solidFill>
                <a:latin typeface="Roboto Regular"/>
              </a:rPr>
              <a:t>cout</a:t>
            </a:r>
            <a:r>
              <a:rPr spc="-100" sz="1000">
                <a:solidFill>
                  <a:srgbClr val="D4D4D4"/>
                </a:solidFill>
                <a:latin typeface="Roboto Regular"/>
              </a:rPr>
              <a:t> &lt;&lt; 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181860" y="7528559"/>
            <a:ext cx="820419" cy="965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CE9178"/>
                </a:solidFill>
                <a:latin typeface="Roboto Regular"/>
              </a:rPr>
              <a:t>"Enter number " 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295650" y="7532370"/>
            <a:ext cx="483870" cy="914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D4D4D4"/>
                </a:solidFill>
                <a:latin typeface="Roboto Regular"/>
              </a:rPr>
              <a:t>&lt;&lt; i+1 &lt;&lt; 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066540" y="7528559"/>
            <a:ext cx="137160" cy="95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CE9178"/>
                </a:solidFill>
                <a:latin typeface="Roboto Regular"/>
              </a:rPr>
              <a:t>": " 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353560" y="7555230"/>
            <a:ext cx="26669" cy="86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D4D4D4"/>
                </a:solidFill>
                <a:latin typeface="Roboto Regular"/>
              </a:rPr>
              <a:t>;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600200" y="7682230"/>
            <a:ext cx="826769" cy="1231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569CD6"/>
                </a:solidFill>
                <a:latin typeface="Roboto Regular"/>
              </a:rPr>
              <a:t>cin</a:t>
            </a:r>
            <a:r>
              <a:rPr spc="-100" sz="1000">
                <a:solidFill>
                  <a:srgbClr val="D4D4D4"/>
                </a:solidFill>
                <a:latin typeface="Roboto Regular"/>
              </a:rPr>
              <a:t> &gt;&gt; nums[i];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43000" y="7857490"/>
            <a:ext cx="43180" cy="121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D4D4D4"/>
                </a:solidFill>
                <a:latin typeface="Roboto Regular"/>
              </a:rPr>
              <a:t>}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314450" y="8202930"/>
            <a:ext cx="2084070" cy="104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6A9955"/>
                </a:solidFill>
                <a:latin typeface="Roboto Regular"/>
              </a:rPr>
              <a:t>// accumulate the sum of all elements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314450" y="8360409"/>
            <a:ext cx="499110" cy="130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569CD6"/>
                </a:solidFill>
                <a:latin typeface="Roboto Regular"/>
              </a:rPr>
              <a:t>for</a:t>
            </a:r>
            <a:r>
              <a:rPr spc="-100" sz="1000">
                <a:solidFill>
                  <a:srgbClr val="D4D4D4"/>
                </a:solidFill>
                <a:latin typeface="Roboto Regular"/>
              </a:rPr>
              <a:t> (</a:t>
            </a:r>
            <a:r>
              <a:rPr spc="-100" sz="1000">
                <a:solidFill>
                  <a:srgbClr val="569CD6"/>
                </a:solidFill>
                <a:latin typeface="Roboto Regular"/>
              </a:rPr>
              <a:t> int 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924050" y="8360409"/>
            <a:ext cx="833119" cy="130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D4D4D4"/>
                </a:solidFill>
                <a:latin typeface="Roboto Regular"/>
              </a:rPr>
              <a:t>i = 0; i &lt; 5; i++) {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257300" y="8530590"/>
            <a:ext cx="845819" cy="121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D4D4D4"/>
                </a:solidFill>
                <a:latin typeface="Roboto Regular"/>
              </a:rPr>
              <a:t>sum += nums[i];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143000" y="8705850"/>
            <a:ext cx="43180" cy="121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D4D4D4"/>
                </a:solidFill>
                <a:latin typeface="Roboto Regular"/>
              </a:rPr>
              <a:t>}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314450" y="9055100"/>
            <a:ext cx="445769" cy="838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569CD6"/>
                </a:solidFill>
                <a:latin typeface="Roboto Regular"/>
              </a:rPr>
              <a:t>cout</a:t>
            </a:r>
            <a:r>
              <a:rPr spc="-100" sz="1000">
                <a:solidFill>
                  <a:srgbClr val="D4D4D4"/>
                </a:solidFill>
                <a:latin typeface="Roboto Regular"/>
              </a:rPr>
              <a:t> &lt;&lt; 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894839" y="9042400"/>
            <a:ext cx="450850" cy="965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CE9178"/>
                </a:solidFill>
                <a:latin typeface="Roboto Regular"/>
              </a:rPr>
              <a:t>"Sum = " 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504440" y="9069070"/>
            <a:ext cx="560070" cy="69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D4D4D4"/>
                </a:solidFill>
                <a:latin typeface="Roboto Regular"/>
              </a:rPr>
              <a:t>&lt;&lt; sum &lt;&lt; 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266440" y="9042400"/>
            <a:ext cx="322580" cy="1130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569CD6"/>
                </a:solidFill>
                <a:latin typeface="Roboto Regular"/>
              </a:rPr>
              <a:t>endl</a:t>
            </a:r>
            <a:r>
              <a:rPr spc="-100" sz="1000">
                <a:solidFill>
                  <a:srgbClr val="D4D4D4"/>
                </a:solidFill>
                <a:latin typeface="Roboto Regular"/>
              </a:rPr>
              <a:t> ;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314450" y="9226550"/>
            <a:ext cx="316230" cy="838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569CD6"/>
                </a:solidFill>
                <a:latin typeface="Roboto Regular"/>
              </a:rPr>
              <a:t>return 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780539" y="9217660"/>
            <a:ext cx="93980" cy="1092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D4D4D4"/>
                </a:solidFill>
                <a:latin typeface="Roboto Regular"/>
              </a:rPr>
              <a:t>0;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28700" y="9381490"/>
            <a:ext cx="43180" cy="121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D4D4D4"/>
                </a:solidFill>
                <a:latin typeface="Roboto Regular"/>
              </a:rPr>
              <a:t>}</a:t>
            </a:r>
          </a:p>
        </p:txBody>
      </p:sp>
      <p:graphicFrame>
        <p:nvGraphicFramePr>
          <p:cNvPr id="83" name="Table 82"/>
          <p:cNvGraphicFramePr>
            <a:graphicFrameLocks noGrp="1"/>
          </p:cNvGraphicFramePr>
          <p:nvPr/>
        </p:nvGraphicFramePr>
        <p:xfrm>
          <a:off x="552450" y="10025380"/>
          <a:ext cx="280669" cy="2679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0669"/>
              </a:tblGrid>
              <a:tr h="267970">
                <a:tc>
                  <a:txBody>
                    <a:bodyPr/>
                    <a:lstStyle/>
                    <a:p>
                      <a:pPr>
                        <a:lnSpc>
                          <a:spcPts val="2190"/>
                        </a:lnSpc>
                      </a:p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2539" cap="flat" cmpd="sng" algn="ctr">
                      <a:solidFill>
                        <a:srgbClr val="888888">
                          <a:alpha val="100000"/>
                        </a:srgbClr>
                      </a:solidFill>
                    </a:lnR>
                    <a:lnT w="2539" cap="flat" cmpd="sng" algn="ctr">
                      <a:solidFill>
                        <a:srgbClr val="888888">
                          <a:alpha val="10000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84" name="Table 83"/>
          <p:cNvGraphicFramePr>
            <a:graphicFrameLocks noGrp="1"/>
          </p:cNvGraphicFramePr>
          <p:nvPr/>
        </p:nvGraphicFramePr>
        <p:xfrm>
          <a:off x="6767830" y="10025380"/>
          <a:ext cx="280670" cy="2679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0670"/>
              </a:tblGrid>
              <a:tr h="267970">
                <a:tc>
                  <a:txBody>
                    <a:bodyPr/>
                    <a:lstStyle/>
                    <a:p>
                      <a:pPr>
                        <a:lnSpc>
                          <a:spcPts val="2190"/>
                        </a:lnSpc>
                      </a:pPr>
                    </a:p>
                  </a:txBody>
                  <a:tcPr marL="0" marR="0" marT="0" marB="0" vert="horz">
                    <a:lnL w="2222" cap="flat" cmpd="sng" algn="ctr">
                      <a:solidFill>
                        <a:srgbClr val="888888">
                          <a:alpha val="10000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2539" cap="flat" cmpd="sng" algn="ctr">
                      <a:solidFill>
                        <a:srgbClr val="888888">
                          <a:alpha val="10000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3959" cy="106870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0" y="292100"/>
            <a:ext cx="2127250" cy="72390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767830" y="247650"/>
          <a:ext cx="280670" cy="2806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0670"/>
              </a:tblGrid>
              <a:tr h="280670">
                <a:tc>
                  <a:txBody>
                    <a:bodyPr/>
                    <a:lstStyle/>
                    <a:p>
                      <a:pPr>
                        <a:lnSpc>
                          <a:spcPts val="2190"/>
                        </a:lnSpc>
                      </a:pPr>
                    </a:p>
                  </a:txBody>
                  <a:tcPr marL="0" marR="0" marT="0" marB="0" vert="horz">
                    <a:lnL w="2222" cap="flat" cmpd="sng" algn="ctr">
                      <a:solidFill>
                        <a:srgbClr val="888888">
                          <a:alpha val="10000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2539" cap="flat" cmpd="sng" algn="ctr">
                      <a:solidFill>
                        <a:srgbClr val="888888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270" y="1270"/>
          <a:ext cx="6742430" cy="106845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42430"/>
              </a:tblGrid>
              <a:tr h="10684510">
                <a:tc>
                  <a:txBody>
                    <a:bodyPr/>
                    <a:lstStyle/>
                    <a:p/>
                    <a:p>
                      <a:pPr marL="1016000" algn="l">
                        <a:lnSpc>
                          <a:spcPts val="1030"/>
                        </a:lnSpc>
                        <a:spcBef>
                          <a:spcPts val="380"/>
                        </a:spcBef>
                      </a:pPr>
                    </a:p>
                    <a:p>
                      <a:pPr marL="835660" algn="l">
                        <a:lnSpc>
                          <a:spcPts val="1060"/>
                        </a:lnSpc>
                        <a:spcBef>
                          <a:spcPts val="3529"/>
                        </a:spcBef>
                      </a:pPr>
                    </a:p>
                    <a:p>
                      <a:pPr marL="835660" algn="l">
                        <a:lnSpc>
                          <a:spcPts val="1280"/>
                        </a:lnSpc>
                        <a:spcBef>
                          <a:spcPts val="100"/>
                        </a:spcBef>
                      </a:pPr>
                    </a:p>
                    <a:p>
                      <a:pPr marL="835660" algn="l">
                        <a:lnSpc>
                          <a:spcPts val="1340"/>
                        </a:lnSpc>
                      </a:pPr>
                    </a:p>
                    <a:p>
                      <a:pPr marL="835660" algn="l">
                        <a:lnSpc>
                          <a:spcPts val="1340"/>
                        </a:lnSpc>
                        <a:spcAft>
                          <a:spcPts val="62000"/>
                        </a:spcAft>
                      </a:pPr>
                    </a:p>
                  </a:txBody>
                  <a:tcPr marL="0" marR="0" marT="0" marB="0" vert="horz">
                    <a:lnL w="635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1270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635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635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52450" y="247650"/>
          <a:ext cx="280669" cy="2806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0669"/>
              </a:tblGrid>
              <a:tr h="280670">
                <a:tc>
                  <a:txBody>
                    <a:bodyPr/>
                    <a:lstStyle/>
                    <a:p>
                      <a:pPr>
                        <a:lnSpc>
                          <a:spcPts val="2190"/>
                        </a:lnSpc>
                      </a:p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2539" cap="flat" cmpd="sng" algn="ctr">
                      <a:solidFill>
                        <a:srgbClr val="888888">
                          <a:alpha val="10000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2539" cap="flat" cmpd="sng" algn="ctr">
                      <a:solidFill>
                        <a:srgbClr val="888888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18540" y="581660"/>
            <a:ext cx="144779" cy="1282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B8B4B4"/>
                </a:solidFill>
                <a:latin typeface="Noto Serif"/>
              </a:rPr>
              <a:t>5.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79120"/>
            <a:ext cx="1065530" cy="1308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00">
                <a:solidFill>
                  <a:srgbClr val="B8B4B4"/>
                </a:solidFill>
                <a:latin typeface="Roboto Regular"/>
              </a:rPr>
              <a:t>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1158240"/>
            <a:ext cx="5474970" cy="1346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Roboto Regular"/>
              </a:rPr>
              <a:t>This lab introduced one-dimensional arrays in C++, covering declaration, initialization, element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305560"/>
            <a:ext cx="5703570" cy="1625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Roboto Regular"/>
              </a:rPr>
              <a:t>access, array copying, and character arrays. Arrays were shown to be an efficient way to manage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1499870"/>
            <a:ext cx="5828030" cy="1346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Roboto Regular"/>
              </a:rPr>
              <a:t>collections of related values under a single variable name. Loop structures were used throughout to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1671320"/>
            <a:ext cx="5855970" cy="1358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Roboto Regular"/>
              </a:rPr>
              <a:t>traverse and process array elements, reinforcing the close relationship between arrays and iteration.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1842770"/>
            <a:ext cx="5307330" cy="1346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Roboto Regular"/>
              </a:rPr>
              <a:t>These fundamentals formthe foundation for working with more advanced data structures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014220"/>
            <a:ext cx="2437129" cy="1346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Roboto Regular"/>
              </a:rPr>
              <a:t>encountered in later stages of the course.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52450" y="10025380"/>
          <a:ext cx="280669" cy="2679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0669"/>
              </a:tblGrid>
              <a:tr h="267970">
                <a:tc>
                  <a:txBody>
                    <a:bodyPr/>
                    <a:lstStyle/>
                    <a:p>
                      <a:pPr>
                        <a:lnSpc>
                          <a:spcPts val="2190"/>
                        </a:lnSpc>
                      </a:p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2539" cap="flat" cmpd="sng" algn="ctr">
                      <a:solidFill>
                        <a:srgbClr val="888888">
                          <a:alpha val="100000"/>
                        </a:srgbClr>
                      </a:solidFill>
                    </a:lnR>
                    <a:lnT w="2539" cap="flat" cmpd="sng" algn="ctr">
                      <a:solidFill>
                        <a:srgbClr val="888888">
                          <a:alpha val="10000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767830" y="10025380"/>
          <a:ext cx="280670" cy="2679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0670"/>
              </a:tblGrid>
              <a:tr h="267970">
                <a:tc>
                  <a:txBody>
                    <a:bodyPr/>
                    <a:lstStyle/>
                    <a:p>
                      <a:pPr>
                        <a:lnSpc>
                          <a:spcPts val="2190"/>
                        </a:lnSpc>
                      </a:pPr>
                    </a:p>
                  </a:txBody>
                  <a:tcPr marL="0" marR="0" marT="0" marB="0" vert="horz">
                    <a:lnL w="2222" cap="flat" cmpd="sng" algn="ctr">
                      <a:solidFill>
                        <a:srgbClr val="888888">
                          <a:alpha val="10000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2539" cap="flat" cmpd="sng" algn="ctr">
                      <a:solidFill>
                        <a:srgbClr val="888888">
                          <a:alpha val="10000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